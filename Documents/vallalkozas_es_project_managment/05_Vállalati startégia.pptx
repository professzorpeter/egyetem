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81" r:id="rId11"/>
    <p:sldId id="282" r:id="rId12"/>
    <p:sldId id="283" r:id="rId13"/>
    <p:sldId id="285" r:id="rId14"/>
    <p:sldId id="286" r:id="rId15"/>
    <p:sldId id="284" r:id="rId16"/>
    <p:sldId id="287" r:id="rId17"/>
    <p:sldId id="288" r:id="rId18"/>
    <p:sldId id="289" r:id="rId19"/>
    <p:sldId id="264" r:id="rId20"/>
    <p:sldId id="265" r:id="rId21"/>
    <p:sldId id="266" r:id="rId22"/>
    <p:sldId id="267" r:id="rId23"/>
    <p:sldId id="268" r:id="rId24"/>
    <p:sldId id="270" r:id="rId25"/>
    <p:sldId id="271" r:id="rId26"/>
    <p:sldId id="272" r:id="rId27"/>
    <p:sldId id="273" r:id="rId28"/>
    <p:sldId id="274" r:id="rId29"/>
    <p:sldId id="275" r:id="rId30"/>
    <p:sldId id="276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25C986-741E-4741-BA95-04F503BB777F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5D80CEBB-6BF0-4B6A-AF99-1B91FD5F9B37}">
      <dgm:prSet phldrT="[Szöveg]"/>
      <dgm:spPr/>
      <dgm:t>
        <a:bodyPr/>
        <a:lstStyle/>
        <a:p>
          <a:r>
            <a:rPr lang="hu-HU" b="1" dirty="0">
              <a:solidFill>
                <a:schemeClr val="tx1"/>
              </a:solidFill>
            </a:rPr>
            <a:t>A vállalati szintű startégiának két fő feladata van:</a:t>
          </a:r>
        </a:p>
      </dgm:t>
    </dgm:pt>
    <dgm:pt modelId="{965554B1-C2A5-4A74-BBEF-AF183AE15A72}" type="parTrans" cxnId="{03C8C340-B72B-478A-A9A5-F8761B0D5771}">
      <dgm:prSet/>
      <dgm:spPr/>
      <dgm:t>
        <a:bodyPr/>
        <a:lstStyle/>
        <a:p>
          <a:endParaRPr lang="hu-HU"/>
        </a:p>
      </dgm:t>
    </dgm:pt>
    <dgm:pt modelId="{455CA105-3262-488F-9715-EA5C33C66915}" type="sibTrans" cxnId="{03C8C340-B72B-478A-A9A5-F8761B0D5771}">
      <dgm:prSet/>
      <dgm:spPr/>
      <dgm:t>
        <a:bodyPr/>
        <a:lstStyle/>
        <a:p>
          <a:endParaRPr lang="hu-HU"/>
        </a:p>
      </dgm:t>
    </dgm:pt>
    <dgm:pt modelId="{6FA6271F-2ACB-4C02-AC61-6BCD06900E13}">
      <dgm:prSet phldrT="[Szöveg]"/>
      <dgm:spPr/>
      <dgm:t>
        <a:bodyPr/>
        <a:lstStyle/>
        <a:p>
          <a:r>
            <a:rPr lang="hu-HU" dirty="0">
              <a:solidFill>
                <a:schemeClr val="tx1"/>
              </a:solidFill>
            </a:rPr>
            <a:t>Meghatározza a vállalat egészének működési módját, kommunikálja a tulajdonosok és a külső érintettek felé</a:t>
          </a:r>
        </a:p>
      </dgm:t>
    </dgm:pt>
    <dgm:pt modelId="{C756FA6D-ADA2-4030-B5BE-344E7919931E}" type="parTrans" cxnId="{92CA173B-B125-4584-8493-A6E3969B171B}">
      <dgm:prSet/>
      <dgm:spPr/>
      <dgm:t>
        <a:bodyPr/>
        <a:lstStyle/>
        <a:p>
          <a:endParaRPr lang="hu-HU"/>
        </a:p>
      </dgm:t>
    </dgm:pt>
    <dgm:pt modelId="{EC859A48-0D38-4BA5-87C8-5C0C43F88E5D}" type="sibTrans" cxnId="{92CA173B-B125-4584-8493-A6E3969B171B}">
      <dgm:prSet/>
      <dgm:spPr/>
      <dgm:t>
        <a:bodyPr/>
        <a:lstStyle/>
        <a:p>
          <a:endParaRPr lang="hu-HU"/>
        </a:p>
      </dgm:t>
    </dgm:pt>
    <dgm:pt modelId="{2D5F216C-DF83-4BB4-B624-B1F148367272}">
      <dgm:prSet phldrT="[Szöveg]"/>
      <dgm:spPr/>
      <dgm:t>
        <a:bodyPr/>
        <a:lstStyle/>
        <a:p>
          <a:r>
            <a:rPr lang="hu-HU" dirty="0">
              <a:solidFill>
                <a:schemeClr val="tx1"/>
              </a:solidFill>
            </a:rPr>
            <a:t>Összefogja, koordinálja az üzletági és funkcionális stratégiákat</a:t>
          </a:r>
        </a:p>
      </dgm:t>
    </dgm:pt>
    <dgm:pt modelId="{6AF41D41-39C1-4EB1-8C17-101D65A33ED1}" type="parTrans" cxnId="{076024D8-2CC3-4943-BFF3-306D9B0601DB}">
      <dgm:prSet/>
      <dgm:spPr/>
      <dgm:t>
        <a:bodyPr/>
        <a:lstStyle/>
        <a:p>
          <a:endParaRPr lang="hu-HU"/>
        </a:p>
      </dgm:t>
    </dgm:pt>
    <dgm:pt modelId="{846C8CC4-800B-489B-86BC-9B8B25D82619}" type="sibTrans" cxnId="{076024D8-2CC3-4943-BFF3-306D9B0601DB}">
      <dgm:prSet/>
      <dgm:spPr/>
      <dgm:t>
        <a:bodyPr/>
        <a:lstStyle/>
        <a:p>
          <a:endParaRPr lang="hu-HU"/>
        </a:p>
      </dgm:t>
    </dgm:pt>
    <dgm:pt modelId="{FF105A93-2C76-434E-8427-DD0FA5EAF7CB}" type="pres">
      <dgm:prSet presAssocID="{0025C986-741E-4741-BA95-04F503BB777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A32887F-9D90-49DC-B705-9EDF77A8D0DC}" type="pres">
      <dgm:prSet presAssocID="{5D80CEBB-6BF0-4B6A-AF99-1B91FD5F9B37}" presName="hierRoot1" presStyleCnt="0">
        <dgm:presLayoutVars>
          <dgm:hierBranch val="init"/>
        </dgm:presLayoutVars>
      </dgm:prSet>
      <dgm:spPr/>
    </dgm:pt>
    <dgm:pt modelId="{2796202D-ABE4-43BB-B487-C2EFAF2229E2}" type="pres">
      <dgm:prSet presAssocID="{5D80CEBB-6BF0-4B6A-AF99-1B91FD5F9B37}" presName="rootComposite1" presStyleCnt="0"/>
      <dgm:spPr/>
    </dgm:pt>
    <dgm:pt modelId="{0482A0F0-D396-4F71-B3E1-5B447C43661F}" type="pres">
      <dgm:prSet presAssocID="{5D80CEBB-6BF0-4B6A-AF99-1B91FD5F9B37}" presName="rootText1" presStyleLbl="node0" presStyleIdx="0" presStyleCnt="1">
        <dgm:presLayoutVars>
          <dgm:chPref val="3"/>
        </dgm:presLayoutVars>
      </dgm:prSet>
      <dgm:spPr/>
    </dgm:pt>
    <dgm:pt modelId="{34D6A33E-FA9C-4767-9820-8C9E7C41107A}" type="pres">
      <dgm:prSet presAssocID="{5D80CEBB-6BF0-4B6A-AF99-1B91FD5F9B37}" presName="rootConnector1" presStyleLbl="node1" presStyleIdx="0" presStyleCnt="0"/>
      <dgm:spPr/>
    </dgm:pt>
    <dgm:pt modelId="{17239BA8-DF1B-4825-A902-76EAE78D013D}" type="pres">
      <dgm:prSet presAssocID="{5D80CEBB-6BF0-4B6A-AF99-1B91FD5F9B37}" presName="hierChild2" presStyleCnt="0"/>
      <dgm:spPr/>
    </dgm:pt>
    <dgm:pt modelId="{8522670A-6B86-4C0E-92CF-416E3214E8C5}" type="pres">
      <dgm:prSet presAssocID="{C756FA6D-ADA2-4030-B5BE-344E7919931E}" presName="Name37" presStyleLbl="parChTrans1D2" presStyleIdx="0" presStyleCnt="2"/>
      <dgm:spPr/>
    </dgm:pt>
    <dgm:pt modelId="{9CEC069E-BEBF-4AE1-8F46-CC5F79D86D37}" type="pres">
      <dgm:prSet presAssocID="{6FA6271F-2ACB-4C02-AC61-6BCD06900E13}" presName="hierRoot2" presStyleCnt="0">
        <dgm:presLayoutVars>
          <dgm:hierBranch val="init"/>
        </dgm:presLayoutVars>
      </dgm:prSet>
      <dgm:spPr/>
    </dgm:pt>
    <dgm:pt modelId="{093EFE31-A2C9-4DAC-BF26-6FBE90AC5383}" type="pres">
      <dgm:prSet presAssocID="{6FA6271F-2ACB-4C02-AC61-6BCD06900E13}" presName="rootComposite" presStyleCnt="0"/>
      <dgm:spPr/>
    </dgm:pt>
    <dgm:pt modelId="{9D3285CB-2205-49A0-A829-C234F6B1E139}" type="pres">
      <dgm:prSet presAssocID="{6FA6271F-2ACB-4C02-AC61-6BCD06900E13}" presName="rootText" presStyleLbl="node2" presStyleIdx="0" presStyleCnt="2">
        <dgm:presLayoutVars>
          <dgm:chPref val="3"/>
        </dgm:presLayoutVars>
      </dgm:prSet>
      <dgm:spPr/>
    </dgm:pt>
    <dgm:pt modelId="{E80A2503-1481-459D-A307-D431EC08EA1C}" type="pres">
      <dgm:prSet presAssocID="{6FA6271F-2ACB-4C02-AC61-6BCD06900E13}" presName="rootConnector" presStyleLbl="node2" presStyleIdx="0" presStyleCnt="2"/>
      <dgm:spPr/>
    </dgm:pt>
    <dgm:pt modelId="{6C52147B-8493-4E08-A1B2-40AD056B23D7}" type="pres">
      <dgm:prSet presAssocID="{6FA6271F-2ACB-4C02-AC61-6BCD06900E13}" presName="hierChild4" presStyleCnt="0"/>
      <dgm:spPr/>
    </dgm:pt>
    <dgm:pt modelId="{0A3EC499-39C9-49F0-95FA-3F51F0727707}" type="pres">
      <dgm:prSet presAssocID="{6FA6271F-2ACB-4C02-AC61-6BCD06900E13}" presName="hierChild5" presStyleCnt="0"/>
      <dgm:spPr/>
    </dgm:pt>
    <dgm:pt modelId="{AD505C97-4E0A-4E21-852E-A1406A9D595C}" type="pres">
      <dgm:prSet presAssocID="{6AF41D41-39C1-4EB1-8C17-101D65A33ED1}" presName="Name37" presStyleLbl="parChTrans1D2" presStyleIdx="1" presStyleCnt="2"/>
      <dgm:spPr/>
    </dgm:pt>
    <dgm:pt modelId="{6E2EB8C4-3FA6-4124-A448-DC3A11385FCF}" type="pres">
      <dgm:prSet presAssocID="{2D5F216C-DF83-4BB4-B624-B1F148367272}" presName="hierRoot2" presStyleCnt="0">
        <dgm:presLayoutVars>
          <dgm:hierBranch val="init"/>
        </dgm:presLayoutVars>
      </dgm:prSet>
      <dgm:spPr/>
    </dgm:pt>
    <dgm:pt modelId="{5B0BC7E6-4B06-4954-9A1E-F13FDBAF69DF}" type="pres">
      <dgm:prSet presAssocID="{2D5F216C-DF83-4BB4-B624-B1F148367272}" presName="rootComposite" presStyleCnt="0"/>
      <dgm:spPr/>
    </dgm:pt>
    <dgm:pt modelId="{1142B1A2-FC42-4531-B8DE-DF8DCDD2B1F7}" type="pres">
      <dgm:prSet presAssocID="{2D5F216C-DF83-4BB4-B624-B1F148367272}" presName="rootText" presStyleLbl="node2" presStyleIdx="1" presStyleCnt="2" custLinFactNeighborY="166">
        <dgm:presLayoutVars>
          <dgm:chPref val="3"/>
        </dgm:presLayoutVars>
      </dgm:prSet>
      <dgm:spPr/>
    </dgm:pt>
    <dgm:pt modelId="{28638E7B-CF57-4028-8FAC-19AC5C55AE61}" type="pres">
      <dgm:prSet presAssocID="{2D5F216C-DF83-4BB4-B624-B1F148367272}" presName="rootConnector" presStyleLbl="node2" presStyleIdx="1" presStyleCnt="2"/>
      <dgm:spPr/>
    </dgm:pt>
    <dgm:pt modelId="{4062FADC-2B21-49F7-9FA4-93C8C60364D6}" type="pres">
      <dgm:prSet presAssocID="{2D5F216C-DF83-4BB4-B624-B1F148367272}" presName="hierChild4" presStyleCnt="0"/>
      <dgm:spPr/>
    </dgm:pt>
    <dgm:pt modelId="{F2F02DB3-387F-4122-A9FA-0E02CD8A8C4B}" type="pres">
      <dgm:prSet presAssocID="{2D5F216C-DF83-4BB4-B624-B1F148367272}" presName="hierChild5" presStyleCnt="0"/>
      <dgm:spPr/>
    </dgm:pt>
    <dgm:pt modelId="{2D4795D1-2685-4094-91BD-45BD0088DB58}" type="pres">
      <dgm:prSet presAssocID="{5D80CEBB-6BF0-4B6A-AF99-1B91FD5F9B37}" presName="hierChild3" presStyleCnt="0"/>
      <dgm:spPr/>
    </dgm:pt>
  </dgm:ptLst>
  <dgm:cxnLst>
    <dgm:cxn modelId="{D988441C-68F7-424F-A519-748C9D74B082}" type="presOf" srcId="{C756FA6D-ADA2-4030-B5BE-344E7919931E}" destId="{8522670A-6B86-4C0E-92CF-416E3214E8C5}" srcOrd="0" destOrd="0" presId="urn:microsoft.com/office/officeart/2005/8/layout/orgChart1"/>
    <dgm:cxn modelId="{06324827-E9FB-48AF-BFB7-BA587F5A442B}" type="presOf" srcId="{2D5F216C-DF83-4BB4-B624-B1F148367272}" destId="{1142B1A2-FC42-4531-B8DE-DF8DCDD2B1F7}" srcOrd="0" destOrd="0" presId="urn:microsoft.com/office/officeart/2005/8/layout/orgChart1"/>
    <dgm:cxn modelId="{6E0B1536-8223-4BE6-BD1E-6AB5DD4DED20}" type="presOf" srcId="{0025C986-741E-4741-BA95-04F503BB777F}" destId="{FF105A93-2C76-434E-8427-DD0FA5EAF7CB}" srcOrd="0" destOrd="0" presId="urn:microsoft.com/office/officeart/2005/8/layout/orgChart1"/>
    <dgm:cxn modelId="{92CA173B-B125-4584-8493-A6E3969B171B}" srcId="{5D80CEBB-6BF0-4B6A-AF99-1B91FD5F9B37}" destId="{6FA6271F-2ACB-4C02-AC61-6BCD06900E13}" srcOrd="0" destOrd="0" parTransId="{C756FA6D-ADA2-4030-B5BE-344E7919931E}" sibTransId="{EC859A48-0D38-4BA5-87C8-5C0C43F88E5D}"/>
    <dgm:cxn modelId="{03C8C340-B72B-478A-A9A5-F8761B0D5771}" srcId="{0025C986-741E-4741-BA95-04F503BB777F}" destId="{5D80CEBB-6BF0-4B6A-AF99-1B91FD5F9B37}" srcOrd="0" destOrd="0" parTransId="{965554B1-C2A5-4A74-BBEF-AF183AE15A72}" sibTransId="{455CA105-3262-488F-9715-EA5C33C66915}"/>
    <dgm:cxn modelId="{18C3C092-57AC-465E-939E-ED0238085748}" type="presOf" srcId="{6FA6271F-2ACB-4C02-AC61-6BCD06900E13}" destId="{9D3285CB-2205-49A0-A829-C234F6B1E139}" srcOrd="0" destOrd="0" presId="urn:microsoft.com/office/officeart/2005/8/layout/orgChart1"/>
    <dgm:cxn modelId="{3EA68BA7-3C48-4677-86FF-FFCEA3E401DE}" type="presOf" srcId="{5D80CEBB-6BF0-4B6A-AF99-1B91FD5F9B37}" destId="{34D6A33E-FA9C-4767-9820-8C9E7C41107A}" srcOrd="1" destOrd="0" presId="urn:microsoft.com/office/officeart/2005/8/layout/orgChart1"/>
    <dgm:cxn modelId="{0F61CFAB-9D2F-45DE-81D6-B7EA24163CF2}" type="presOf" srcId="{6FA6271F-2ACB-4C02-AC61-6BCD06900E13}" destId="{E80A2503-1481-459D-A307-D431EC08EA1C}" srcOrd="1" destOrd="0" presId="urn:microsoft.com/office/officeart/2005/8/layout/orgChart1"/>
    <dgm:cxn modelId="{076024D8-2CC3-4943-BFF3-306D9B0601DB}" srcId="{5D80CEBB-6BF0-4B6A-AF99-1B91FD5F9B37}" destId="{2D5F216C-DF83-4BB4-B624-B1F148367272}" srcOrd="1" destOrd="0" parTransId="{6AF41D41-39C1-4EB1-8C17-101D65A33ED1}" sibTransId="{846C8CC4-800B-489B-86BC-9B8B25D82619}"/>
    <dgm:cxn modelId="{7CC301E1-51E0-4F97-AC4D-3CC187ED15D1}" type="presOf" srcId="{6AF41D41-39C1-4EB1-8C17-101D65A33ED1}" destId="{AD505C97-4E0A-4E21-852E-A1406A9D595C}" srcOrd="0" destOrd="0" presId="urn:microsoft.com/office/officeart/2005/8/layout/orgChart1"/>
    <dgm:cxn modelId="{8061FFE8-EF52-47A8-8AD9-218CE6E53BDD}" type="presOf" srcId="{2D5F216C-DF83-4BB4-B624-B1F148367272}" destId="{28638E7B-CF57-4028-8FAC-19AC5C55AE61}" srcOrd="1" destOrd="0" presId="urn:microsoft.com/office/officeart/2005/8/layout/orgChart1"/>
    <dgm:cxn modelId="{B03DB3F5-8B6F-462E-97FC-31EFFC22C404}" type="presOf" srcId="{5D80CEBB-6BF0-4B6A-AF99-1B91FD5F9B37}" destId="{0482A0F0-D396-4F71-B3E1-5B447C43661F}" srcOrd="0" destOrd="0" presId="urn:microsoft.com/office/officeart/2005/8/layout/orgChart1"/>
    <dgm:cxn modelId="{9DF76F37-DE74-4B00-B431-E43FD60DC7C9}" type="presParOf" srcId="{FF105A93-2C76-434E-8427-DD0FA5EAF7CB}" destId="{9A32887F-9D90-49DC-B705-9EDF77A8D0DC}" srcOrd="0" destOrd="0" presId="urn:microsoft.com/office/officeart/2005/8/layout/orgChart1"/>
    <dgm:cxn modelId="{CFA5BBE1-7821-48FA-996D-4AF33F71E279}" type="presParOf" srcId="{9A32887F-9D90-49DC-B705-9EDF77A8D0DC}" destId="{2796202D-ABE4-43BB-B487-C2EFAF2229E2}" srcOrd="0" destOrd="0" presId="urn:microsoft.com/office/officeart/2005/8/layout/orgChart1"/>
    <dgm:cxn modelId="{8E3EB735-72D8-43FD-BC65-83A4127FCAC7}" type="presParOf" srcId="{2796202D-ABE4-43BB-B487-C2EFAF2229E2}" destId="{0482A0F0-D396-4F71-B3E1-5B447C43661F}" srcOrd="0" destOrd="0" presId="urn:microsoft.com/office/officeart/2005/8/layout/orgChart1"/>
    <dgm:cxn modelId="{9F288C31-52F5-4BF3-B042-7B61D13F1618}" type="presParOf" srcId="{2796202D-ABE4-43BB-B487-C2EFAF2229E2}" destId="{34D6A33E-FA9C-4767-9820-8C9E7C41107A}" srcOrd="1" destOrd="0" presId="urn:microsoft.com/office/officeart/2005/8/layout/orgChart1"/>
    <dgm:cxn modelId="{5D587063-208F-4E4D-9D50-435B4DA25692}" type="presParOf" srcId="{9A32887F-9D90-49DC-B705-9EDF77A8D0DC}" destId="{17239BA8-DF1B-4825-A902-76EAE78D013D}" srcOrd="1" destOrd="0" presId="urn:microsoft.com/office/officeart/2005/8/layout/orgChart1"/>
    <dgm:cxn modelId="{8AA7E423-F549-453D-9EE2-A5A64729A1EC}" type="presParOf" srcId="{17239BA8-DF1B-4825-A902-76EAE78D013D}" destId="{8522670A-6B86-4C0E-92CF-416E3214E8C5}" srcOrd="0" destOrd="0" presId="urn:microsoft.com/office/officeart/2005/8/layout/orgChart1"/>
    <dgm:cxn modelId="{74AF1164-16C9-43DC-B4C0-BE7F63692F04}" type="presParOf" srcId="{17239BA8-DF1B-4825-A902-76EAE78D013D}" destId="{9CEC069E-BEBF-4AE1-8F46-CC5F79D86D37}" srcOrd="1" destOrd="0" presId="urn:microsoft.com/office/officeart/2005/8/layout/orgChart1"/>
    <dgm:cxn modelId="{F1823638-77A5-42FC-906B-22F3442A4959}" type="presParOf" srcId="{9CEC069E-BEBF-4AE1-8F46-CC5F79D86D37}" destId="{093EFE31-A2C9-4DAC-BF26-6FBE90AC5383}" srcOrd="0" destOrd="0" presId="urn:microsoft.com/office/officeart/2005/8/layout/orgChart1"/>
    <dgm:cxn modelId="{8448075B-2D68-4029-B2FD-54E4436C4900}" type="presParOf" srcId="{093EFE31-A2C9-4DAC-BF26-6FBE90AC5383}" destId="{9D3285CB-2205-49A0-A829-C234F6B1E139}" srcOrd="0" destOrd="0" presId="urn:microsoft.com/office/officeart/2005/8/layout/orgChart1"/>
    <dgm:cxn modelId="{265B8E64-F731-439F-ADC0-C728E3AB6768}" type="presParOf" srcId="{093EFE31-A2C9-4DAC-BF26-6FBE90AC5383}" destId="{E80A2503-1481-459D-A307-D431EC08EA1C}" srcOrd="1" destOrd="0" presId="urn:microsoft.com/office/officeart/2005/8/layout/orgChart1"/>
    <dgm:cxn modelId="{3F16C220-8206-442F-BA4B-60D496DBAD9F}" type="presParOf" srcId="{9CEC069E-BEBF-4AE1-8F46-CC5F79D86D37}" destId="{6C52147B-8493-4E08-A1B2-40AD056B23D7}" srcOrd="1" destOrd="0" presId="urn:microsoft.com/office/officeart/2005/8/layout/orgChart1"/>
    <dgm:cxn modelId="{0778F270-C0E9-427C-87FE-CF6AE5B040CE}" type="presParOf" srcId="{9CEC069E-BEBF-4AE1-8F46-CC5F79D86D37}" destId="{0A3EC499-39C9-49F0-95FA-3F51F0727707}" srcOrd="2" destOrd="0" presId="urn:microsoft.com/office/officeart/2005/8/layout/orgChart1"/>
    <dgm:cxn modelId="{1FF1A4A6-C9AA-46BA-83A1-6CB0180226D2}" type="presParOf" srcId="{17239BA8-DF1B-4825-A902-76EAE78D013D}" destId="{AD505C97-4E0A-4E21-852E-A1406A9D595C}" srcOrd="2" destOrd="0" presId="urn:microsoft.com/office/officeart/2005/8/layout/orgChart1"/>
    <dgm:cxn modelId="{7C7A4E93-060B-47CE-9B6A-FF4876DCDB90}" type="presParOf" srcId="{17239BA8-DF1B-4825-A902-76EAE78D013D}" destId="{6E2EB8C4-3FA6-4124-A448-DC3A11385FCF}" srcOrd="3" destOrd="0" presId="urn:microsoft.com/office/officeart/2005/8/layout/orgChart1"/>
    <dgm:cxn modelId="{A14CD074-7BA2-4FBA-A4BF-787B1EC8CC1B}" type="presParOf" srcId="{6E2EB8C4-3FA6-4124-A448-DC3A11385FCF}" destId="{5B0BC7E6-4B06-4954-9A1E-F13FDBAF69DF}" srcOrd="0" destOrd="0" presId="urn:microsoft.com/office/officeart/2005/8/layout/orgChart1"/>
    <dgm:cxn modelId="{C4273760-8C42-47A8-B654-CCC7498DE7EF}" type="presParOf" srcId="{5B0BC7E6-4B06-4954-9A1E-F13FDBAF69DF}" destId="{1142B1A2-FC42-4531-B8DE-DF8DCDD2B1F7}" srcOrd="0" destOrd="0" presId="urn:microsoft.com/office/officeart/2005/8/layout/orgChart1"/>
    <dgm:cxn modelId="{6C530B5E-FDB1-4D61-85CC-7D4F9B16C8D5}" type="presParOf" srcId="{5B0BC7E6-4B06-4954-9A1E-F13FDBAF69DF}" destId="{28638E7B-CF57-4028-8FAC-19AC5C55AE61}" srcOrd="1" destOrd="0" presId="urn:microsoft.com/office/officeart/2005/8/layout/orgChart1"/>
    <dgm:cxn modelId="{02A75316-0ED5-4877-B0AB-C3241772FEBF}" type="presParOf" srcId="{6E2EB8C4-3FA6-4124-A448-DC3A11385FCF}" destId="{4062FADC-2B21-49F7-9FA4-93C8C60364D6}" srcOrd="1" destOrd="0" presId="urn:microsoft.com/office/officeart/2005/8/layout/orgChart1"/>
    <dgm:cxn modelId="{232D4335-68D1-4721-8196-1BD656B4C3EA}" type="presParOf" srcId="{6E2EB8C4-3FA6-4124-A448-DC3A11385FCF}" destId="{F2F02DB3-387F-4122-A9FA-0E02CD8A8C4B}" srcOrd="2" destOrd="0" presId="urn:microsoft.com/office/officeart/2005/8/layout/orgChart1"/>
    <dgm:cxn modelId="{84ED6DEA-0B51-439D-9888-3EFFC095D296}" type="presParOf" srcId="{9A32887F-9D90-49DC-B705-9EDF77A8D0DC}" destId="{2D4795D1-2685-4094-91BD-45BD0088DB5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505C97-4E0A-4E21-852E-A1406A9D595C}">
      <dsp:nvSpPr>
        <dsp:cNvPr id="0" name=""/>
        <dsp:cNvSpPr/>
      </dsp:nvSpPr>
      <dsp:spPr>
        <a:xfrm>
          <a:off x="5089525" y="1975844"/>
          <a:ext cx="2386802" cy="8317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7512"/>
              </a:lnTo>
              <a:lnTo>
                <a:pt x="2386802" y="417512"/>
              </a:lnTo>
              <a:lnTo>
                <a:pt x="2386802" y="831751"/>
              </a:lnTo>
            </a:path>
          </a:pathLst>
        </a:custGeom>
        <a:noFill/>
        <a:ln w="12700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22670A-6B86-4C0E-92CF-416E3214E8C5}">
      <dsp:nvSpPr>
        <dsp:cNvPr id="0" name=""/>
        <dsp:cNvSpPr/>
      </dsp:nvSpPr>
      <dsp:spPr>
        <a:xfrm>
          <a:off x="2702722" y="1975844"/>
          <a:ext cx="2386802" cy="828476"/>
        </a:xfrm>
        <a:custGeom>
          <a:avLst/>
          <a:gdLst/>
          <a:ahLst/>
          <a:cxnLst/>
          <a:rect l="0" t="0" r="0" b="0"/>
          <a:pathLst>
            <a:path>
              <a:moveTo>
                <a:pt x="2386802" y="0"/>
              </a:moveTo>
              <a:lnTo>
                <a:pt x="2386802" y="414238"/>
              </a:lnTo>
              <a:lnTo>
                <a:pt x="0" y="414238"/>
              </a:lnTo>
              <a:lnTo>
                <a:pt x="0" y="828476"/>
              </a:lnTo>
            </a:path>
          </a:pathLst>
        </a:custGeom>
        <a:noFill/>
        <a:ln w="12700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82A0F0-D396-4F71-B3E1-5B447C43661F}">
      <dsp:nvSpPr>
        <dsp:cNvPr id="0" name=""/>
        <dsp:cNvSpPr/>
      </dsp:nvSpPr>
      <dsp:spPr>
        <a:xfrm>
          <a:off x="3116961" y="3280"/>
          <a:ext cx="3945127" cy="19725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900" b="1" kern="1200" dirty="0">
              <a:solidFill>
                <a:schemeClr val="tx1"/>
              </a:solidFill>
            </a:rPr>
            <a:t>A vállalati szintű startégiának két fő feladata van:</a:t>
          </a:r>
        </a:p>
      </dsp:txBody>
      <dsp:txXfrm>
        <a:off x="3116961" y="3280"/>
        <a:ext cx="3945127" cy="1972563"/>
      </dsp:txXfrm>
    </dsp:sp>
    <dsp:sp modelId="{9D3285CB-2205-49A0-A829-C234F6B1E139}">
      <dsp:nvSpPr>
        <dsp:cNvPr id="0" name=""/>
        <dsp:cNvSpPr/>
      </dsp:nvSpPr>
      <dsp:spPr>
        <a:xfrm>
          <a:off x="730159" y="2804320"/>
          <a:ext cx="3945127" cy="19725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900" kern="1200" dirty="0">
              <a:solidFill>
                <a:schemeClr val="tx1"/>
              </a:solidFill>
            </a:rPr>
            <a:t>Meghatározza a vállalat egészének működési módját, kommunikálja a tulajdonosok és a külső érintettek felé</a:t>
          </a:r>
        </a:p>
      </dsp:txBody>
      <dsp:txXfrm>
        <a:off x="730159" y="2804320"/>
        <a:ext cx="3945127" cy="1972563"/>
      </dsp:txXfrm>
    </dsp:sp>
    <dsp:sp modelId="{1142B1A2-FC42-4531-B8DE-DF8DCDD2B1F7}">
      <dsp:nvSpPr>
        <dsp:cNvPr id="0" name=""/>
        <dsp:cNvSpPr/>
      </dsp:nvSpPr>
      <dsp:spPr>
        <a:xfrm>
          <a:off x="5503763" y="2807595"/>
          <a:ext cx="3945127" cy="19725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900" kern="1200" dirty="0">
              <a:solidFill>
                <a:schemeClr val="tx1"/>
              </a:solidFill>
            </a:rPr>
            <a:t>Összefogja, koordinálja az üzletági és funkcionális stratégiákat</a:t>
          </a:r>
        </a:p>
      </dsp:txBody>
      <dsp:txXfrm>
        <a:off x="5503763" y="2807595"/>
        <a:ext cx="3945127" cy="19725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3/11/2025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3/11/2025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12E1D4-9126-4538-995E-4A4EED98E7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Vállalati stratégia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1718F17-7F17-40FD-939C-0C6D8A164E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68905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7B38003-904C-4846-89B9-11D916B19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36815"/>
          </a:xfrm>
        </p:spPr>
        <p:txBody>
          <a:bodyPr/>
          <a:lstStyle/>
          <a:p>
            <a:r>
              <a:rPr lang="hu-HU" dirty="0"/>
              <a:t>Vállalati stratégia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6ABBF57-9BF7-40AA-9583-48890F64C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19201"/>
            <a:ext cx="10178322" cy="5256414"/>
          </a:xfrm>
        </p:spPr>
        <p:txBody>
          <a:bodyPr>
            <a:normAutofit fontScale="92500" lnSpcReduction="10000"/>
          </a:bodyPr>
          <a:lstStyle/>
          <a:p>
            <a:r>
              <a:rPr lang="hu-HU" sz="2800" dirty="0"/>
              <a:t>A stratégia alkotás gyakorlatilag egyidős az emberiséggel – katonai gyökereit mindenki ismeri.  A stratégák a hadseregek vezetői voltak. </a:t>
            </a:r>
          </a:p>
          <a:p>
            <a:r>
              <a:rPr lang="hu-HU" sz="2800" dirty="0"/>
              <a:t>Megjelent a görög városállamokban, az ókori Kínában (Szun-</a:t>
            </a:r>
            <a:r>
              <a:rPr lang="hu-HU" sz="2800" dirty="0" err="1"/>
              <a:t>Ce</a:t>
            </a:r>
            <a:r>
              <a:rPr lang="hu-HU" sz="2800" dirty="0"/>
              <a:t>) is.</a:t>
            </a:r>
          </a:p>
          <a:p>
            <a:pPr fontAlgn="base">
              <a:lnSpc>
                <a:spcPct val="120000"/>
              </a:lnSpc>
            </a:pPr>
            <a:r>
              <a:rPr lang="hu-HU" sz="2800" dirty="0"/>
              <a:t>„</a:t>
            </a:r>
            <a:r>
              <a:rPr lang="hu-HU" sz="2800" b="1" dirty="0"/>
              <a:t>Stratégiának nevezzük az összes hadvezéri tevékenységet, amely arra irányul, hogy a mozgósított hadsereget az ellenséggel való összeütközésig vezesse. Az ellenséggel való összeütközés pillanatától kezdve a taktika (harcászat) lép előtérbe, jóllehet a csata tervezésénél és kivitelezésénél stratégiai szempontok is mérvadók.” </a:t>
            </a:r>
            <a:r>
              <a:rPr lang="hu-HU" sz="2800" dirty="0"/>
              <a:t>(Révai Lexikon)</a:t>
            </a:r>
          </a:p>
          <a:p>
            <a:pPr fontAlgn="base">
              <a:lnSpc>
                <a:spcPct val="120000"/>
              </a:lnSpc>
            </a:pPr>
            <a:r>
              <a:rPr lang="hu-HU" sz="2800" b="1" dirty="0"/>
              <a:t>„A stratégia nem egyéb, mint a józan észnek a hadvezetésben való alkalmazása” </a:t>
            </a:r>
            <a:r>
              <a:rPr lang="hu-HU" sz="2800" dirty="0"/>
              <a:t>[MOLTKE]</a:t>
            </a:r>
          </a:p>
          <a:p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2130465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7B38003-904C-4846-89B9-11D916B19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36815"/>
          </a:xfrm>
        </p:spPr>
        <p:txBody>
          <a:bodyPr/>
          <a:lstStyle/>
          <a:p>
            <a:r>
              <a:rPr lang="hu-HU" dirty="0"/>
              <a:t>Vállalati stratégia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6ABBF57-9BF7-40AA-9583-48890F64C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19201"/>
            <a:ext cx="10178322" cy="5256414"/>
          </a:xfrm>
        </p:spPr>
        <p:txBody>
          <a:bodyPr>
            <a:normAutofit/>
          </a:bodyPr>
          <a:lstStyle/>
          <a:p>
            <a:r>
              <a:rPr lang="hu-HU" sz="2600" dirty="0"/>
              <a:t>Az </a:t>
            </a:r>
            <a:r>
              <a:rPr lang="hu-HU" sz="2600" b="1" dirty="0"/>
              <a:t>üzleti verseny élesedése </a:t>
            </a:r>
            <a:r>
              <a:rPr lang="hu-HU" sz="2600" dirty="0"/>
              <a:t>a II. világháború után egyre súlyosabb következményekkel járt.</a:t>
            </a:r>
          </a:p>
          <a:p>
            <a:r>
              <a:rPr lang="hu-HU" sz="2600" dirty="0"/>
              <a:t>Amilyen mértékben vált az üzleti élet is élet-halál kérdésévé, olyan mértékben és ütemben kezdték el alkalmazni a vállalatok </a:t>
            </a:r>
            <a:r>
              <a:rPr lang="hu-HU" sz="2600" b="1" dirty="0"/>
              <a:t>a hadviselésben már bevált fogalmakat, módszereket a vállalati irányításban is</a:t>
            </a:r>
            <a:r>
              <a:rPr lang="hu-HU" sz="2600" dirty="0"/>
              <a:t> – elkerülendő a súlyosabb veszteségeket, a megsemmisülést.</a:t>
            </a:r>
          </a:p>
          <a:p>
            <a:r>
              <a:rPr lang="hu-HU" sz="2600" dirty="0"/>
              <a:t>A hetvenes években már megjelent a vállalatok gondolkodásában a stratégia.</a:t>
            </a:r>
          </a:p>
          <a:p>
            <a:endParaRPr lang="hu-HU" sz="2600" dirty="0"/>
          </a:p>
        </p:txBody>
      </p:sp>
    </p:spTree>
    <p:extLst>
      <p:ext uri="{BB962C8B-B14F-4D97-AF65-F5344CB8AC3E}">
        <p14:creationId xmlns:p14="http://schemas.microsoft.com/office/powerpoint/2010/main" val="3050939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7B38003-904C-4846-89B9-11D916B19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36815"/>
          </a:xfrm>
        </p:spPr>
        <p:txBody>
          <a:bodyPr/>
          <a:lstStyle/>
          <a:p>
            <a:r>
              <a:rPr lang="hu-HU" dirty="0"/>
              <a:t>Vállalati stratégia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6ABBF57-9BF7-40AA-9583-48890F64C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19201"/>
            <a:ext cx="10178322" cy="5256414"/>
          </a:xfrm>
        </p:spPr>
        <p:txBody>
          <a:bodyPr>
            <a:normAutofit/>
          </a:bodyPr>
          <a:lstStyle/>
          <a:p>
            <a:r>
              <a:rPr lang="hu-HU" sz="2600" dirty="0"/>
              <a:t>Vizsgáljuk meg a hadviselésben és a vállalatvezetésben megjelenő stratégia azonosságait és különbségeit:</a:t>
            </a:r>
          </a:p>
          <a:p>
            <a:endParaRPr lang="hu-HU" sz="2600" dirty="0"/>
          </a:p>
        </p:txBody>
      </p:sp>
      <p:graphicFrame>
        <p:nvGraphicFramePr>
          <p:cNvPr id="4" name="Táblázat 4">
            <a:extLst>
              <a:ext uri="{FF2B5EF4-FFF2-40B4-BE49-F238E27FC236}">
                <a16:creationId xmlns:a16="http://schemas.microsoft.com/office/drawing/2014/main" id="{1D2C3C78-1779-40C1-9146-2652B2BC5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415579"/>
              </p:ext>
            </p:extLst>
          </p:nvPr>
        </p:nvGraphicFramePr>
        <p:xfrm>
          <a:off x="1251677" y="2107141"/>
          <a:ext cx="10178322" cy="4368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9161">
                  <a:extLst>
                    <a:ext uri="{9D8B030D-6E8A-4147-A177-3AD203B41FA5}">
                      <a16:colId xmlns:a16="http://schemas.microsoft.com/office/drawing/2014/main" val="774769183"/>
                    </a:ext>
                  </a:extLst>
                </a:gridCol>
                <a:gridCol w="5089161">
                  <a:extLst>
                    <a:ext uri="{9D8B030D-6E8A-4147-A177-3AD203B41FA5}">
                      <a16:colId xmlns:a16="http://schemas.microsoft.com/office/drawing/2014/main" val="3661293920"/>
                    </a:ext>
                  </a:extLst>
                </a:gridCol>
              </a:tblGrid>
              <a:tr h="443179">
                <a:tc>
                  <a:txBody>
                    <a:bodyPr/>
                    <a:lstStyle/>
                    <a:p>
                      <a:pPr algn="ctr"/>
                      <a:r>
                        <a:rPr lang="hu-HU" sz="2200" b="1" i="0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Hadviselésben a célhoz vezető út</a:t>
                      </a:r>
                      <a:endParaRPr lang="hu-HU" sz="22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200" b="1" i="0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Piaci versenyben a célhoz vezető út</a:t>
                      </a:r>
                      <a:endParaRPr lang="hu-HU" sz="22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750730"/>
                  </a:ext>
                </a:extLst>
              </a:tr>
              <a:tr h="3925295">
                <a:tc>
                  <a:txBody>
                    <a:bodyPr/>
                    <a:lstStyle/>
                    <a:p>
                      <a:pPr marL="342900" indent="-342900" fontAlgn="base">
                        <a:buFont typeface="Arial" panose="020B0604020202020204" pitchFamily="34" charset="0"/>
                        <a:buChar char="•"/>
                      </a:pPr>
                      <a:r>
                        <a:rPr lang="hu-HU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katonai stratégia kidolgozása</a:t>
                      </a:r>
                    </a:p>
                    <a:p>
                      <a:pPr marL="342900" indent="-342900" fontAlgn="base">
                        <a:buFont typeface="Arial" panose="020B0604020202020204" pitchFamily="34" charset="0"/>
                        <a:buChar char="•"/>
                      </a:pPr>
                      <a:r>
                        <a:rPr lang="hu-HU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Fegyverzet</a:t>
                      </a:r>
                    </a:p>
                    <a:p>
                      <a:pPr marL="342900" indent="-342900" fontAlgn="base">
                        <a:buFont typeface="Arial" panose="020B0604020202020204" pitchFamily="34" charset="0"/>
                        <a:buChar char="•"/>
                      </a:pPr>
                      <a:r>
                        <a:rPr lang="hu-HU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Kiképzett, motivált haderő</a:t>
                      </a:r>
                    </a:p>
                    <a:p>
                      <a:pPr marL="342900" indent="-342900" fontAlgn="base">
                        <a:buFont typeface="Arial" panose="020B0604020202020204" pitchFamily="34" charset="0"/>
                        <a:buChar char="•"/>
                      </a:pPr>
                      <a:r>
                        <a:rPr lang="hu-HU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csata helyének megválasztása</a:t>
                      </a:r>
                    </a:p>
                    <a:p>
                      <a:pPr marL="342900" indent="-342900" fontAlgn="base">
                        <a:buFont typeface="Arial" panose="020B0604020202020204" pitchFamily="34" charset="0"/>
                        <a:buChar char="•"/>
                      </a:pPr>
                      <a:r>
                        <a:rPr lang="hu-HU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Hadvezér, vezérkar szerepe</a:t>
                      </a:r>
                    </a:p>
                    <a:p>
                      <a:pPr marL="342900" indent="-342900" fontAlgn="base">
                        <a:buFont typeface="Arial" panose="020B0604020202020204" pitchFamily="34" charset="0"/>
                        <a:buChar char="•"/>
                      </a:pPr>
                      <a:r>
                        <a:rPr lang="hu-HU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Stratégiai tervezés</a:t>
                      </a:r>
                    </a:p>
                    <a:p>
                      <a:pPr marL="342900" indent="-342900" fontAlgn="base">
                        <a:buFont typeface="Arial" panose="020B0604020202020204" pitchFamily="34" charset="0"/>
                        <a:buChar char="•"/>
                      </a:pPr>
                      <a:r>
                        <a:rPr lang="hu-HU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Taktikai tervezés</a:t>
                      </a:r>
                    </a:p>
                    <a:p>
                      <a:pPr marL="342900" indent="-342900" fontAlgn="base">
                        <a:buFont typeface="Arial" panose="020B0604020202020204" pitchFamily="34" charset="0"/>
                        <a:buChar char="•"/>
                      </a:pPr>
                      <a:r>
                        <a:rPr lang="hu-HU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Operatív tervezés</a:t>
                      </a:r>
                    </a:p>
                    <a:p>
                      <a:pPr marL="342900" indent="-342900" fontAlgn="base">
                        <a:buFont typeface="Arial" panose="020B0604020202020204" pitchFamily="34" charset="0"/>
                        <a:buChar char="•"/>
                      </a:pPr>
                      <a:r>
                        <a:rPr lang="hu-HU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Ellátás, utánpótlás</a:t>
                      </a:r>
                    </a:p>
                    <a:p>
                      <a:pPr marL="342900" indent="-342900" fontAlgn="base">
                        <a:buFont typeface="Arial" panose="020B0604020202020204" pitchFamily="34" charset="0"/>
                        <a:buChar char="•"/>
                      </a:pPr>
                      <a:r>
                        <a:rPr lang="hu-HU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Morál, elkötelezettség</a:t>
                      </a:r>
                    </a:p>
                    <a:p>
                      <a:pPr marL="342900" indent="-342900" fontAlgn="base">
                        <a:buFont typeface="Arial" panose="020B0604020202020204" pitchFamily="34" charset="0"/>
                        <a:buChar char="•"/>
                      </a:pPr>
                      <a:r>
                        <a:rPr lang="hu-HU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Hírközlés, monitorrendszer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fontAlgn="base">
                        <a:buFont typeface="Arial" panose="020B0604020202020204" pitchFamily="34" charset="0"/>
                        <a:buChar char="•"/>
                      </a:pPr>
                      <a:r>
                        <a:rPr lang="hu-HU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vállalati stratégia kidolgozása</a:t>
                      </a:r>
                    </a:p>
                    <a:p>
                      <a:pPr marL="342900" indent="-342900" fontAlgn="base">
                        <a:buFont typeface="Arial" panose="020B0604020202020204" pitchFamily="34" charset="0"/>
                        <a:buChar char="•"/>
                      </a:pPr>
                      <a:r>
                        <a:rPr lang="hu-HU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Termék, szolgáltatás</a:t>
                      </a:r>
                    </a:p>
                    <a:p>
                      <a:pPr marL="342900" indent="-342900" fontAlgn="base">
                        <a:buFont typeface="Arial" panose="020B0604020202020204" pitchFamily="34" charset="0"/>
                        <a:buChar char="•"/>
                      </a:pPr>
                      <a:r>
                        <a:rPr lang="hu-HU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Képzett, elkötelezett munkatársak</a:t>
                      </a:r>
                    </a:p>
                    <a:p>
                      <a:pPr marL="342900" indent="-342900" fontAlgn="base">
                        <a:buFont typeface="Arial" panose="020B0604020202020204" pitchFamily="34" charset="0"/>
                        <a:buChar char="•"/>
                      </a:pPr>
                      <a:r>
                        <a:rPr lang="hu-HU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Piac megválasztása</a:t>
                      </a:r>
                    </a:p>
                    <a:p>
                      <a:pPr marL="342900" indent="-342900" fontAlgn="base">
                        <a:buFont typeface="Arial" panose="020B0604020202020204" pitchFamily="34" charset="0"/>
                        <a:buChar char="•"/>
                      </a:pPr>
                      <a:r>
                        <a:rPr lang="hu-HU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Vállalati vezető, felső vezetés szerepe</a:t>
                      </a:r>
                    </a:p>
                    <a:p>
                      <a:pPr marL="342900" indent="-342900" fontAlgn="base">
                        <a:buFont typeface="Arial" panose="020B0604020202020204" pitchFamily="34" charset="0"/>
                        <a:buChar char="•"/>
                      </a:pPr>
                      <a:r>
                        <a:rPr lang="hu-HU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Stratégiai tervezés</a:t>
                      </a:r>
                    </a:p>
                    <a:p>
                      <a:pPr marL="342900" indent="-342900" fontAlgn="base">
                        <a:buFont typeface="Arial" panose="020B0604020202020204" pitchFamily="34" charset="0"/>
                        <a:buChar char="•"/>
                      </a:pPr>
                      <a:r>
                        <a:rPr lang="hu-HU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Üzleti tervezés</a:t>
                      </a:r>
                    </a:p>
                    <a:p>
                      <a:pPr marL="342900" indent="-342900" fontAlgn="base">
                        <a:buFont typeface="Arial" panose="020B0604020202020204" pitchFamily="34" charset="0"/>
                        <a:buChar char="•"/>
                      </a:pPr>
                      <a:r>
                        <a:rPr lang="hu-HU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Éves, negyedéves operatív tervezés</a:t>
                      </a:r>
                    </a:p>
                    <a:p>
                      <a:pPr marL="342900" indent="-342900" fontAlgn="base">
                        <a:buFont typeface="Arial" panose="020B0604020202020204" pitchFamily="34" charset="0"/>
                        <a:buChar char="•"/>
                      </a:pPr>
                      <a:r>
                        <a:rPr lang="hu-HU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Logisztika</a:t>
                      </a:r>
                    </a:p>
                    <a:p>
                      <a:pPr marL="342900" indent="-342900" fontAlgn="base">
                        <a:buFont typeface="Arial" panose="020B0604020202020204" pitchFamily="34" charset="0"/>
                        <a:buChar char="•"/>
                      </a:pPr>
                      <a:r>
                        <a:rPr lang="hu-HU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Vállalati kultúra</a:t>
                      </a:r>
                    </a:p>
                    <a:p>
                      <a:pPr marL="342900" indent="-342900" fontAlgn="base">
                        <a:buFont typeface="Arial" panose="020B0604020202020204" pitchFamily="34" charset="0"/>
                        <a:buChar char="•"/>
                      </a:pPr>
                      <a:r>
                        <a:rPr lang="hu-HU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Vállalati információs rendszer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7042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3809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FA8B7E-C258-4C51-BE1D-4C43D0A85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779665"/>
          </a:xfrm>
        </p:spPr>
        <p:txBody>
          <a:bodyPr>
            <a:normAutofit fontScale="90000"/>
          </a:bodyPr>
          <a:lstStyle/>
          <a:p>
            <a:r>
              <a:rPr lang="hu-HU" dirty="0"/>
              <a:t>Vállalati stratégia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6DECD571-2033-4447-A2F2-6EF838E3B0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018" t="31802" r="12086" b="26682"/>
          <a:stretch/>
        </p:blipFill>
        <p:spPr>
          <a:xfrm>
            <a:off x="1261481" y="1285875"/>
            <a:ext cx="10168519" cy="3257550"/>
          </a:xfr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85BAC6A3-30C7-4ED2-A4B0-E8BBACE43E6D}"/>
              </a:ext>
            </a:extLst>
          </p:cNvPr>
          <p:cNvSpPr txBox="1"/>
          <p:nvPr/>
        </p:nvSpPr>
        <p:spPr>
          <a:xfrm>
            <a:off x="3295650" y="4667250"/>
            <a:ext cx="7648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Forrás: https://gtk.uni-miskolc.hu/files/5027/%c3%9czleti%20tervez%c3%a9s.pdf</a:t>
            </a:r>
          </a:p>
        </p:txBody>
      </p:sp>
    </p:spTree>
    <p:extLst>
      <p:ext uri="{BB962C8B-B14F-4D97-AF65-F5344CB8AC3E}">
        <p14:creationId xmlns:p14="http://schemas.microsoft.com/office/powerpoint/2010/main" val="1500051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7B38003-904C-4846-89B9-11D916B19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36815"/>
          </a:xfrm>
        </p:spPr>
        <p:txBody>
          <a:bodyPr/>
          <a:lstStyle/>
          <a:p>
            <a:r>
              <a:rPr lang="hu-HU" dirty="0"/>
              <a:t>Vállalati stratégia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6ABBF57-9BF7-40AA-9583-48890F64C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19201"/>
            <a:ext cx="10178322" cy="5256414"/>
          </a:xfrm>
        </p:spPr>
        <p:txBody>
          <a:bodyPr>
            <a:normAutofit/>
          </a:bodyPr>
          <a:lstStyle/>
          <a:p>
            <a:r>
              <a:rPr lang="hu-HU" sz="2600" dirty="0"/>
              <a:t>Vállalati startégián jellemzően a felső szintű startégiát értjük, de több szintje van, ezek a következők:</a:t>
            </a:r>
          </a:p>
          <a:p>
            <a:pPr marL="685800" lvl="2"/>
            <a:r>
              <a:rPr lang="hu-HU" sz="2400" b="1" dirty="0"/>
              <a:t>Szervezeti stratégia (</a:t>
            </a:r>
            <a:r>
              <a:rPr lang="hu-HU" sz="2400" b="1" dirty="0" err="1"/>
              <a:t>corporate</a:t>
            </a:r>
            <a:r>
              <a:rPr lang="hu-HU" sz="2400" b="1" dirty="0"/>
              <a:t> </a:t>
            </a:r>
            <a:r>
              <a:rPr lang="hu-HU" sz="2400" b="1" dirty="0" err="1"/>
              <a:t>strategy</a:t>
            </a:r>
            <a:r>
              <a:rPr lang="hu-HU" sz="2400" b="1" dirty="0"/>
              <a:t>): </a:t>
            </a:r>
            <a:r>
              <a:rPr lang="hu-HU" sz="2400" dirty="0"/>
              <a:t>az egész vállalatra vonatkozó hosszú távra szóló stratégia, amely a vállalat egészére vonatkozik, annak helyét határozza meg az üzleti életben.</a:t>
            </a:r>
          </a:p>
          <a:p>
            <a:pPr marL="685800" lvl="2"/>
            <a:r>
              <a:rPr lang="hu-HU" sz="2400" b="1" dirty="0"/>
              <a:t>Az üzleti stratégiák (business </a:t>
            </a:r>
            <a:r>
              <a:rPr lang="hu-HU" sz="2400" b="1" dirty="0" err="1"/>
              <a:t>strategy</a:t>
            </a:r>
            <a:r>
              <a:rPr lang="hu-HU" sz="2400" b="1" dirty="0"/>
              <a:t>) </a:t>
            </a:r>
            <a:r>
              <a:rPr lang="hu-HU" sz="2400" dirty="0"/>
              <a:t>a fentinél szűkebb tartalmúak: azt határozzák meg, hogy a stratégiai üzleti egységek (</a:t>
            </a:r>
            <a:r>
              <a:rPr lang="hu-HU" sz="2400" dirty="0" err="1"/>
              <a:t>strategic</a:t>
            </a:r>
            <a:r>
              <a:rPr lang="hu-HU" sz="2400" dirty="0"/>
              <a:t> business unit – SBU) hogyan versenyezzenek az adott üzletágban – a vállalati stratégiával összhangban.</a:t>
            </a:r>
          </a:p>
          <a:p>
            <a:pPr marL="685800" lvl="2"/>
            <a:r>
              <a:rPr lang="hu-HU" sz="2400" b="1" dirty="0"/>
              <a:t>A funkcionális stratégiák (</a:t>
            </a:r>
            <a:r>
              <a:rPr lang="hu-HU" sz="2400" b="1" dirty="0" err="1"/>
              <a:t>functional</a:t>
            </a:r>
            <a:r>
              <a:rPr lang="hu-HU" sz="2400" b="1" dirty="0"/>
              <a:t> </a:t>
            </a:r>
            <a:r>
              <a:rPr lang="hu-HU" sz="2400" b="1" dirty="0" err="1"/>
              <a:t>strategy</a:t>
            </a:r>
            <a:r>
              <a:rPr lang="hu-HU" sz="2400" b="1" dirty="0"/>
              <a:t>) </a:t>
            </a:r>
            <a:r>
              <a:rPr lang="hu-HU" sz="2400" dirty="0"/>
              <a:t>a vállalati működés egy-egy funkciójával kapcsolatosak (pl. termelési stratégia, pénzügyi stratégia, marketingstratégia, humánerőforrás-stratégia stb.).</a:t>
            </a:r>
          </a:p>
        </p:txBody>
      </p:sp>
    </p:spTree>
    <p:extLst>
      <p:ext uri="{BB962C8B-B14F-4D97-AF65-F5344CB8AC3E}">
        <p14:creationId xmlns:p14="http://schemas.microsoft.com/office/powerpoint/2010/main" val="621470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03FD81-5D32-482A-A109-56AFEC9F8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A stratégiai fogalomtár néhány fontosabb eleme</a:t>
            </a:r>
            <a:endParaRPr lang="hu-HU" sz="4800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A4FE253-62D2-4D0F-8AF9-D39DBF166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94047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8FD5598-27C4-4505-88A5-1AB961CA8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65390"/>
          </a:xfrm>
        </p:spPr>
        <p:txBody>
          <a:bodyPr/>
          <a:lstStyle/>
          <a:p>
            <a:r>
              <a:rPr lang="hu-HU" dirty="0"/>
              <a:t>Stratégiai fogalomtár elemei: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E47A95E-F8AB-41FA-AA21-6B64DFDCA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47775"/>
            <a:ext cx="10178322" cy="5095875"/>
          </a:xfrm>
        </p:spPr>
        <p:txBody>
          <a:bodyPr>
            <a:normAutofit fontScale="92500" lnSpcReduction="20000"/>
          </a:bodyPr>
          <a:lstStyle/>
          <a:p>
            <a:r>
              <a:rPr lang="hu-HU" sz="2600" b="1" dirty="0"/>
              <a:t>MISSZIÓ (</a:t>
            </a:r>
            <a:r>
              <a:rPr lang="hu-HU" sz="2600" b="1" dirty="0" err="1"/>
              <a:t>mission</a:t>
            </a:r>
            <a:r>
              <a:rPr lang="hu-HU" sz="2600" b="1" dirty="0"/>
              <a:t>): </a:t>
            </a:r>
            <a:r>
              <a:rPr lang="hu-HU" sz="2600" dirty="0"/>
              <a:t>a szervezet, a vállalat </a:t>
            </a:r>
            <a:r>
              <a:rPr lang="hu-HU" sz="2600" b="1" dirty="0"/>
              <a:t>alapvető céljának megfogalmazása </a:t>
            </a:r>
            <a:r>
              <a:rPr lang="hu-HU" sz="2600" dirty="0"/>
              <a:t>– mi végből létezik, milyen tevékenységben kíván részt venni, milyen fogyasztók igényeit szeretné kielégíteni.</a:t>
            </a:r>
          </a:p>
          <a:p>
            <a:r>
              <a:rPr lang="hu-HU" sz="2600" b="1" dirty="0"/>
              <a:t>VÍZIÓ (</a:t>
            </a:r>
            <a:r>
              <a:rPr lang="hu-HU" sz="2600" b="1" dirty="0" err="1"/>
              <a:t>strategic</a:t>
            </a:r>
            <a:r>
              <a:rPr lang="hu-HU" sz="2600" b="1" dirty="0"/>
              <a:t> </a:t>
            </a:r>
            <a:r>
              <a:rPr lang="hu-HU" sz="2600" b="1" dirty="0" err="1"/>
              <a:t>intent</a:t>
            </a:r>
            <a:r>
              <a:rPr lang="hu-HU" sz="2600" b="1" dirty="0"/>
              <a:t>): a kívánatos elérendő jövőbeli állapot</a:t>
            </a:r>
            <a:r>
              <a:rPr lang="hu-HU" sz="2600" dirty="0"/>
              <a:t>, a szervezet aspirációja.</a:t>
            </a:r>
          </a:p>
          <a:p>
            <a:r>
              <a:rPr lang="hu-HU" sz="2600" b="1" dirty="0"/>
              <a:t>CÉLOK (</a:t>
            </a:r>
            <a:r>
              <a:rPr lang="hu-HU" sz="2600" b="1" dirty="0" err="1"/>
              <a:t>objectives</a:t>
            </a:r>
            <a:r>
              <a:rPr lang="hu-HU" sz="2600" b="1" dirty="0"/>
              <a:t>, </a:t>
            </a:r>
            <a:r>
              <a:rPr lang="hu-HU" sz="2600" b="1" dirty="0" err="1"/>
              <a:t>goals</a:t>
            </a:r>
            <a:r>
              <a:rPr lang="hu-HU" sz="2600" b="1" dirty="0"/>
              <a:t>)</a:t>
            </a:r>
            <a:r>
              <a:rPr lang="hu-HU" sz="2600" dirty="0"/>
              <a:t>: </a:t>
            </a:r>
            <a:r>
              <a:rPr lang="hu-HU" sz="2600" b="1" dirty="0"/>
              <a:t>a kívánt jövőbeli állapot időskálán való konkrétabb bemutatása,</a:t>
            </a:r>
            <a:r>
              <a:rPr lang="hu-HU" sz="2600" dirty="0"/>
              <a:t> beleértve olyan kérdéseket is, mint a szervezet típusa, mérete, a szóban forgó tevékenységi területek jellege, összetétele, a sikert meghatározó szintek megadása.</a:t>
            </a:r>
          </a:p>
          <a:p>
            <a:r>
              <a:rPr lang="hu-HU" sz="2600" b="1" dirty="0"/>
              <a:t>STRATÉGIA (</a:t>
            </a:r>
            <a:r>
              <a:rPr lang="hu-HU" sz="2600" b="1" dirty="0" err="1"/>
              <a:t>strategy</a:t>
            </a:r>
            <a:r>
              <a:rPr lang="hu-HU" sz="2600" b="1" dirty="0"/>
              <a:t>): a követendő út a misszió, a vízió és célok elérése érdekében</a:t>
            </a:r>
            <a:r>
              <a:rPr lang="hu-HU" sz="2600" dirty="0"/>
              <a:t>. Tartalmazza a teendőket, azokat a stratégiai döntéseket, amelyek az adott szintű sikerhez vezetnek.</a:t>
            </a:r>
          </a:p>
          <a:p>
            <a:pPr lvl="1"/>
            <a:r>
              <a:rPr lang="hu-HU" sz="2400" dirty="0"/>
              <a:t>A megfogalmazások </a:t>
            </a:r>
            <a:r>
              <a:rPr lang="hu-HU" sz="2400" dirty="0" err="1"/>
              <a:t>Barakonyi</a:t>
            </a:r>
            <a:r>
              <a:rPr lang="hu-HU" sz="2400" dirty="0"/>
              <a:t> Károly: Stratégia Tervezés könyvéből származnak</a:t>
            </a:r>
          </a:p>
        </p:txBody>
      </p:sp>
    </p:spTree>
    <p:extLst>
      <p:ext uri="{BB962C8B-B14F-4D97-AF65-F5344CB8AC3E}">
        <p14:creationId xmlns:p14="http://schemas.microsoft.com/office/powerpoint/2010/main" val="1764219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8FD5598-27C4-4505-88A5-1AB961CA8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65390"/>
          </a:xfrm>
        </p:spPr>
        <p:txBody>
          <a:bodyPr/>
          <a:lstStyle/>
          <a:p>
            <a:r>
              <a:rPr lang="hu-HU" dirty="0"/>
              <a:t>Stratégiai fogalomtár elemei: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E47A95E-F8AB-41FA-AA21-6B64DFDCA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47775"/>
            <a:ext cx="10178322" cy="5095875"/>
          </a:xfrm>
        </p:spPr>
        <p:txBody>
          <a:bodyPr>
            <a:normAutofit lnSpcReduction="10000"/>
          </a:bodyPr>
          <a:lstStyle/>
          <a:p>
            <a:pPr fontAlgn="base"/>
            <a:r>
              <a:rPr lang="hu-HU" sz="2600" b="1" dirty="0"/>
              <a:t>„A stratégia egy szervezet hosszú távon követett iránya, működési területe, amely előnyöket biztosít számára egy változó környezetben erőforrásainak kombinálásával, a piaci igények és a tulajdonosi elvárások kielégítése révén.” </a:t>
            </a:r>
            <a:r>
              <a:rPr lang="hu-HU" sz="2600" dirty="0"/>
              <a:t>[JOHNSON 1997, 10. o.]</a:t>
            </a:r>
          </a:p>
          <a:p>
            <a:pPr fontAlgn="base"/>
            <a:r>
              <a:rPr lang="hu-HU" sz="2600" b="1" dirty="0"/>
              <a:t>„A stratégia azt az utat írja le, amelyet a szervezet céljai elérése érdekében követ, a szervezet környezetében észlelt fenyegetések és lehetőségek figyelembevételével, a szervezet rendelkezésére álló erőforrások és kapacitások számításba vételével. Fő meghatározói a külső környezet, a belső helyzet és a követendő célok. A stratégia kifejezi a szervezetnek a versenyhez való alapvető viszonyulását.”</a:t>
            </a:r>
            <a:r>
              <a:rPr lang="hu-HU" sz="2600" dirty="0"/>
              <a:t> [RUE 1986, 4. o.]</a:t>
            </a:r>
          </a:p>
        </p:txBody>
      </p:sp>
    </p:spTree>
    <p:extLst>
      <p:ext uri="{BB962C8B-B14F-4D97-AF65-F5344CB8AC3E}">
        <p14:creationId xmlns:p14="http://schemas.microsoft.com/office/powerpoint/2010/main" val="3157524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C1150-3231-D3A0-F2F6-5B4FBC399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E2C58B-5BF0-55FF-039E-43DB6D5E8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8735"/>
          </a:xfrm>
        </p:spPr>
        <p:txBody>
          <a:bodyPr/>
          <a:lstStyle/>
          <a:p>
            <a:r>
              <a:rPr lang="hu-HU" dirty="0"/>
              <a:t>Stratégiai menedzsment alapok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7B9A7A4-9F1A-A143-A037-72731415E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1120"/>
            <a:ext cx="10178322" cy="4947919"/>
          </a:xfrm>
        </p:spPr>
        <p:txBody>
          <a:bodyPr>
            <a:normAutofit/>
          </a:bodyPr>
          <a:lstStyle/>
          <a:p>
            <a:r>
              <a:rPr lang="hu-HU" sz="2800" b="1" u="sng" dirty="0"/>
              <a:t>Gondolatok a misszióról:</a:t>
            </a:r>
          </a:p>
          <a:p>
            <a:r>
              <a:rPr lang="hu-HU" sz="2400" dirty="0"/>
              <a:t>„</a:t>
            </a:r>
            <a:r>
              <a:rPr lang="hu-HU" sz="3200" b="1" i="1" dirty="0"/>
              <a:t>A jövőkép irányába mutat.</a:t>
            </a:r>
          </a:p>
          <a:p>
            <a:r>
              <a:rPr lang="hu-HU" sz="3200" dirty="0"/>
              <a:t>A missziónak ki kell fejeznie: </a:t>
            </a:r>
          </a:p>
          <a:p>
            <a:pPr lvl="1"/>
            <a:r>
              <a:rPr lang="hu-HU" sz="3000" dirty="0"/>
              <a:t>Miért is van a vállalat a világon </a:t>
            </a:r>
          </a:p>
          <a:p>
            <a:pPr lvl="1"/>
            <a:r>
              <a:rPr lang="hu-HU" sz="3000" dirty="0"/>
              <a:t>Mi fontos a vállalatnak és miért fontos a vállalat másoknak </a:t>
            </a:r>
          </a:p>
          <a:p>
            <a:pPr lvl="1"/>
            <a:r>
              <a:rPr lang="hu-HU" sz="3000" dirty="0"/>
              <a:t>Milyen normák és értékek jellemzik a vállalatot </a:t>
            </a:r>
          </a:p>
          <a:p>
            <a:pPr lvl="1"/>
            <a:r>
              <a:rPr lang="hu-HU" sz="3000" dirty="0"/>
              <a:t>A misszió nem más, mint a vállalat létezésének célja és oka </a:t>
            </a:r>
          </a:p>
          <a:p>
            <a:pPr marL="0" indent="0" fontAlgn="base">
              <a:lnSpc>
                <a:spcPct val="120000"/>
              </a:lnSpc>
              <a:buNone/>
            </a:pP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3731638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3E930-C62C-5CA7-89BA-0890A38FA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90DC00B-4453-4286-04FC-F7918ACBA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8735"/>
          </a:xfrm>
        </p:spPr>
        <p:txBody>
          <a:bodyPr/>
          <a:lstStyle/>
          <a:p>
            <a:r>
              <a:rPr lang="hu-HU" dirty="0"/>
              <a:t>Stratégiai menedzsment alapok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5DB2FE8-C587-BB06-DDCB-178D9AD5D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1120"/>
            <a:ext cx="10178322" cy="4947919"/>
          </a:xfrm>
        </p:spPr>
        <p:txBody>
          <a:bodyPr>
            <a:normAutofit fontScale="77500" lnSpcReduction="20000"/>
          </a:bodyPr>
          <a:lstStyle/>
          <a:p>
            <a:r>
              <a:rPr lang="hu-HU" sz="2800" b="1" u="sng" dirty="0"/>
              <a:t>Gondolatok a misszióról:</a:t>
            </a:r>
          </a:p>
          <a:p>
            <a:r>
              <a:rPr lang="hu-HU" sz="3200" dirty="0"/>
              <a:t>Csak akkor érdemes missziót megfogalmazni, ha abban a vezetés maga is hisz, és be akarja tartani.</a:t>
            </a:r>
          </a:p>
          <a:p>
            <a:pPr marL="228600" lvl="1">
              <a:buFont typeface="Arial" panose="020B0604020202020204" pitchFamily="34" charset="0"/>
              <a:buChar char="•"/>
            </a:pPr>
            <a:r>
              <a:rPr lang="hu-HU" sz="3200" b="1" dirty="0"/>
              <a:t>Misszió típusok:</a:t>
            </a:r>
          </a:p>
          <a:p>
            <a:pPr marL="685800" lvl="3"/>
            <a:r>
              <a:rPr lang="hu-HU" sz="3000" dirty="0"/>
              <a:t>Politikai töltésű (érdekcsoportok elvárásainak való megfelelés)</a:t>
            </a:r>
          </a:p>
          <a:p>
            <a:pPr marL="685800" lvl="3"/>
            <a:r>
              <a:rPr lang="hu-HU" sz="3000" dirty="0"/>
              <a:t>Vállalati cselekvés vezérelveit meghatározó missziók (működés, filozófia, vállalati értékek)</a:t>
            </a:r>
          </a:p>
          <a:p>
            <a:pPr marL="685800" lvl="3"/>
            <a:r>
              <a:rPr lang="hu-HU" sz="3000" dirty="0"/>
              <a:t>Vállalat társadalmi szerepét, felelősségét kiemelő missziók (milyen fontos értéket nyújt a vállalat a társadalomnak).</a:t>
            </a:r>
          </a:p>
          <a:p>
            <a:endParaRPr lang="hu-HU" sz="3200" dirty="0"/>
          </a:p>
          <a:p>
            <a:r>
              <a:rPr lang="hu-HU" sz="4000" dirty="0"/>
              <a:t>"Akár azt hiszed, hogy képes vagy rá, akár azt, hogy nem, igazad lesz." - Henry Ford</a:t>
            </a:r>
          </a:p>
          <a:p>
            <a:pPr marL="0" indent="0">
              <a:buNone/>
            </a:pPr>
            <a:endParaRPr lang="hu-HU" sz="3200" dirty="0"/>
          </a:p>
          <a:p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461345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8A30D-4943-1CB7-0916-032EA270C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C3D46D5-E451-C5B0-2331-E2D3F68BF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8735"/>
          </a:xfrm>
        </p:spPr>
        <p:txBody>
          <a:bodyPr/>
          <a:lstStyle/>
          <a:p>
            <a:r>
              <a:rPr lang="hu-HU" dirty="0"/>
              <a:t>Stratégiai menedzsment alapok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752D67D-DC2F-B506-F938-A3FB160DF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1120"/>
            <a:ext cx="10178322" cy="4947919"/>
          </a:xfrm>
        </p:spPr>
        <p:txBody>
          <a:bodyPr>
            <a:normAutofit/>
          </a:bodyPr>
          <a:lstStyle/>
          <a:p>
            <a:r>
              <a:rPr lang="hu-HU" sz="2800" b="1" u="sng" dirty="0"/>
              <a:t>Gondolatok a vízióról:</a:t>
            </a:r>
          </a:p>
          <a:p>
            <a:r>
              <a:rPr lang="hu-HU" sz="3200" dirty="0"/>
              <a:t>Követendő irányt állandóan mutatja.</a:t>
            </a:r>
          </a:p>
          <a:p>
            <a:r>
              <a:rPr lang="hu-HU" sz="3200" dirty="0"/>
              <a:t> Egy adott időtáv végére elérhető kívánatos állapot </a:t>
            </a:r>
          </a:p>
          <a:p>
            <a:r>
              <a:rPr lang="hu-HU" sz="3200" dirty="0"/>
              <a:t>Azért fontos, hogy a jelenlegi cselekedetnek, döntéseknek irányt szabjon </a:t>
            </a:r>
          </a:p>
          <a:p>
            <a:r>
              <a:rPr lang="hu-HU" sz="3200" dirty="0"/>
              <a:t>A legtöbb esetben az események azért következnek be, mert előre elképzeltünk valamit, és teszünk is azért, hogy az megvalósuljon.</a:t>
            </a:r>
          </a:p>
          <a:p>
            <a:pPr marL="0" indent="0">
              <a:buNone/>
            </a:pPr>
            <a:endParaRPr lang="hu-HU" sz="3200" dirty="0"/>
          </a:p>
          <a:p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939410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D696-10C6-EF49-37C4-5DFA9A10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109B279-98B7-7C3E-78BC-9CDBBEE3A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8735"/>
          </a:xfrm>
        </p:spPr>
        <p:txBody>
          <a:bodyPr/>
          <a:lstStyle/>
          <a:p>
            <a:r>
              <a:rPr lang="hu-HU" dirty="0"/>
              <a:t>Stratégiai menedzsment alapok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9F8CBF7-42A5-694B-22AF-A4AF1945F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1120"/>
            <a:ext cx="10178322" cy="4947919"/>
          </a:xfrm>
        </p:spPr>
        <p:txBody>
          <a:bodyPr>
            <a:normAutofit fontScale="85000" lnSpcReduction="20000"/>
          </a:bodyPr>
          <a:lstStyle/>
          <a:p>
            <a:r>
              <a:rPr lang="hu-HU" sz="2800" b="1" u="sng" dirty="0"/>
              <a:t>Gondolatok a vízióról:</a:t>
            </a:r>
          </a:p>
          <a:p>
            <a:r>
              <a:rPr lang="hu-HU" sz="2800" b="1" u="sng" dirty="0"/>
              <a:t>Jó jövőkép:</a:t>
            </a:r>
          </a:p>
          <a:p>
            <a:pPr lvl="1"/>
            <a:r>
              <a:rPr lang="hu-HU" sz="2600" dirty="0"/>
              <a:t>Realisztikus </a:t>
            </a:r>
          </a:p>
          <a:p>
            <a:pPr lvl="1"/>
            <a:r>
              <a:rPr lang="hu-HU" sz="2600" dirty="0"/>
              <a:t>Hihető </a:t>
            </a:r>
          </a:p>
          <a:p>
            <a:pPr lvl="1"/>
            <a:r>
              <a:rPr lang="hu-HU" sz="2600" dirty="0"/>
              <a:t>Vonzó </a:t>
            </a:r>
          </a:p>
          <a:p>
            <a:pPr lvl="1"/>
            <a:r>
              <a:rPr lang="hu-HU" sz="2600" dirty="0"/>
              <a:t>Tartalom: pozíció, méret, tevékenységi kör, érték, képesség </a:t>
            </a:r>
          </a:p>
          <a:p>
            <a:pPr lvl="1"/>
            <a:r>
              <a:rPr lang="hu-HU" sz="2600" dirty="0"/>
              <a:t>Tükrözze az érintettek céljait és aspirációit </a:t>
            </a:r>
          </a:p>
          <a:p>
            <a:pPr lvl="1"/>
            <a:r>
              <a:rPr lang="hu-HU" sz="2600" dirty="0"/>
              <a:t>Képes a figyelem fókuszálására </a:t>
            </a:r>
          </a:p>
          <a:p>
            <a:pPr lvl="1"/>
            <a:r>
              <a:rPr lang="hu-HU" sz="2600" dirty="0"/>
              <a:t>Megfogalmazás módja: képszerű, szemléletes, érzelmi töltésű </a:t>
            </a:r>
          </a:p>
          <a:p>
            <a:pPr lvl="1"/>
            <a:r>
              <a:rPr lang="hu-HU" sz="2600" dirty="0"/>
              <a:t>Jó benyomást keltsen az emberekben </a:t>
            </a:r>
          </a:p>
          <a:p>
            <a:pPr lvl="1"/>
            <a:r>
              <a:rPr lang="hu-HU" sz="2600" dirty="0"/>
              <a:t>Terjeszthető </a:t>
            </a:r>
          </a:p>
          <a:p>
            <a:pPr lvl="1"/>
            <a:r>
              <a:rPr lang="hu-HU" sz="2600" dirty="0"/>
              <a:t>Közvetíthető</a:t>
            </a:r>
          </a:p>
          <a:p>
            <a:pPr lvl="1"/>
            <a:endParaRPr lang="hu-HU" sz="2600" b="1" u="sng" dirty="0"/>
          </a:p>
          <a:p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3232932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C72AC-337F-4092-E91D-EDFA5817A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D337FD5-8FC3-1581-7EF9-8E20430BD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8735"/>
          </a:xfrm>
        </p:spPr>
        <p:txBody>
          <a:bodyPr/>
          <a:lstStyle/>
          <a:p>
            <a:r>
              <a:rPr lang="hu-HU" dirty="0"/>
              <a:t>Stratégiai menedzsment alapok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348DE01-BCDA-1EF7-C2EE-1656E149F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1120"/>
            <a:ext cx="10178322" cy="4947919"/>
          </a:xfrm>
        </p:spPr>
        <p:txBody>
          <a:bodyPr>
            <a:normAutofit/>
          </a:bodyPr>
          <a:lstStyle/>
          <a:p>
            <a:r>
              <a:rPr lang="hu-HU" sz="2800" b="1" u="sng" dirty="0"/>
              <a:t>Gondolatok a vízióról:</a:t>
            </a:r>
          </a:p>
          <a:p>
            <a:r>
              <a:rPr lang="hu-HU" sz="2800" b="1" u="sng" dirty="0"/>
              <a:t>A jövőképről való gondolkodás területei:</a:t>
            </a:r>
          </a:p>
          <a:p>
            <a:pPr lvl="1"/>
            <a:r>
              <a:rPr lang="hu-HU" sz="2600" dirty="0"/>
              <a:t>Milyen módon kíván a vállalat növekedni? </a:t>
            </a:r>
          </a:p>
          <a:p>
            <a:pPr lvl="1"/>
            <a:r>
              <a:rPr lang="hu-HU" sz="2600" dirty="0"/>
              <a:t>Milyen piacokon és milyen termékekkel/szolgáltatásokkal akar jelen lenni?</a:t>
            </a:r>
          </a:p>
          <a:p>
            <a:pPr lvl="1"/>
            <a:r>
              <a:rPr lang="hu-HU" sz="2600" dirty="0"/>
              <a:t>Milyenek legyenek az üzletágak közötti kapcsolatok? </a:t>
            </a:r>
          </a:p>
          <a:p>
            <a:pPr lvl="1"/>
            <a:r>
              <a:rPr lang="hu-HU" sz="2600" dirty="0"/>
              <a:t>Milyen megkülönböztető képességekkel versenyezzen a vállalat? </a:t>
            </a:r>
          </a:p>
          <a:p>
            <a:pPr lvl="1"/>
            <a:r>
              <a:rPr lang="hu-HU" sz="2600" dirty="0"/>
              <a:t>Milyen tudású és képességű emberekkel szándékozik a vállalat versenyezni?</a:t>
            </a:r>
          </a:p>
          <a:p>
            <a:endParaRPr lang="hu-HU" sz="3200" dirty="0"/>
          </a:p>
          <a:p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1552943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352C5-67D1-3563-6DE2-424428531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3C031A-0647-436D-61AE-8102E131F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8735"/>
          </a:xfrm>
        </p:spPr>
        <p:txBody>
          <a:bodyPr/>
          <a:lstStyle/>
          <a:p>
            <a:r>
              <a:rPr lang="hu-HU" dirty="0"/>
              <a:t>Stratégiai menedzsment alapok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16B26A2-794B-781F-15D2-9233FB203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1120"/>
            <a:ext cx="10178322" cy="4947919"/>
          </a:xfrm>
        </p:spPr>
        <p:txBody>
          <a:bodyPr>
            <a:normAutofit/>
          </a:bodyPr>
          <a:lstStyle/>
          <a:p>
            <a:r>
              <a:rPr lang="hu-HU" sz="2800" b="1" u="sng" dirty="0"/>
              <a:t>Gondolatok a vízióról:</a:t>
            </a:r>
          </a:p>
          <a:p>
            <a:r>
              <a:rPr lang="hu-HU" sz="3200" dirty="0"/>
              <a:t>„Az én elnökségem alatt az Egyesült Államok sohasem vesztett el egyetlen katonát, sem egy talpalatnyi földet. Megőriztük a békét. Az emberek gyakran kérdezték tőlem, hogy ez hogyan történhetett. De hát ez nemcsak úgy történt velünk, hanem ezt mi akartuk.” </a:t>
            </a:r>
          </a:p>
          <a:p>
            <a:endParaRPr lang="hu-HU" sz="3200" dirty="0"/>
          </a:p>
          <a:p>
            <a:r>
              <a:rPr lang="hu-HU" sz="3200" dirty="0" err="1"/>
              <a:t>Dwight</a:t>
            </a:r>
            <a:r>
              <a:rPr lang="hu-HU" sz="3200" dirty="0"/>
              <a:t> D. Eisenhower</a:t>
            </a:r>
          </a:p>
          <a:p>
            <a:pPr marL="0" indent="0">
              <a:buNone/>
            </a:pPr>
            <a:endParaRPr lang="hu-HU" sz="3200" dirty="0"/>
          </a:p>
          <a:p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69888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E46FA-C65F-5211-40AE-89C562BDC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4F36F56-83F1-B973-F17E-2D5D80398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8735"/>
          </a:xfrm>
        </p:spPr>
        <p:txBody>
          <a:bodyPr/>
          <a:lstStyle/>
          <a:p>
            <a:r>
              <a:rPr lang="hu-HU" dirty="0"/>
              <a:t>Stratégiai menedzsment alapok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0E9843C-A9BD-01F3-9BE7-4A75CF19F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1120"/>
            <a:ext cx="10452642" cy="5273040"/>
          </a:xfrm>
        </p:spPr>
        <p:txBody>
          <a:bodyPr>
            <a:normAutofit fontScale="85000" lnSpcReduction="20000"/>
          </a:bodyPr>
          <a:lstStyle/>
          <a:p>
            <a:r>
              <a:rPr lang="hu-HU" sz="2800" b="1" u="sng" dirty="0"/>
              <a:t>Gondolatok a célokról:</a:t>
            </a:r>
          </a:p>
          <a:p>
            <a:r>
              <a:rPr lang="hu-HU" sz="3200" dirty="0"/>
              <a:t>Stratégiai célok meghatározása:</a:t>
            </a:r>
          </a:p>
          <a:p>
            <a:pPr lvl="1"/>
            <a:r>
              <a:rPr lang="hu-HU" sz="3000" dirty="0"/>
              <a:t>Számszerűen kifejezni – mérhető célok nélkül nincs stratégia,</a:t>
            </a:r>
          </a:p>
          <a:p>
            <a:pPr lvl="1"/>
            <a:r>
              <a:rPr lang="hu-HU" sz="3000" dirty="0"/>
              <a:t>Mit? Mennyit? Mikorra?</a:t>
            </a:r>
          </a:p>
          <a:p>
            <a:pPr lvl="1"/>
            <a:r>
              <a:rPr lang="hu-HU" sz="3000" dirty="0"/>
              <a:t>A monitoring céljából.</a:t>
            </a:r>
          </a:p>
          <a:p>
            <a:pPr lvl="1"/>
            <a:r>
              <a:rPr lang="hu-HU" sz="3000" dirty="0"/>
              <a:t>Jellemzői:</a:t>
            </a:r>
          </a:p>
          <a:p>
            <a:pPr lvl="2"/>
            <a:r>
              <a:rPr lang="hu-HU" sz="2800" dirty="0"/>
              <a:t>Specifikus, </a:t>
            </a:r>
          </a:p>
          <a:p>
            <a:pPr lvl="2"/>
            <a:r>
              <a:rPr lang="hu-HU" sz="2800" dirty="0"/>
              <a:t>mérhető, </a:t>
            </a:r>
          </a:p>
          <a:p>
            <a:pPr lvl="2"/>
            <a:r>
              <a:rPr lang="hu-HU" sz="2800" dirty="0"/>
              <a:t>elérhető, </a:t>
            </a:r>
          </a:p>
          <a:p>
            <a:pPr lvl="2"/>
            <a:r>
              <a:rPr lang="hu-HU" sz="2800" dirty="0"/>
              <a:t>releváns, </a:t>
            </a:r>
          </a:p>
          <a:p>
            <a:pPr lvl="2"/>
            <a:r>
              <a:rPr lang="hu-HU" sz="2800" dirty="0"/>
              <a:t>időhöz köthető, </a:t>
            </a:r>
          </a:p>
          <a:p>
            <a:pPr lvl="2"/>
            <a:r>
              <a:rPr lang="hu-HU" sz="2800" dirty="0"/>
              <a:t>aktivizáló.</a:t>
            </a:r>
          </a:p>
          <a:p>
            <a:pPr lvl="1"/>
            <a:endParaRPr lang="hu-HU" sz="3000" dirty="0"/>
          </a:p>
          <a:p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2132582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10A55-3BEF-842D-216A-CE7B13C15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910D04A-9D36-9EE9-6100-59462C34C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8735"/>
          </a:xfrm>
        </p:spPr>
        <p:txBody>
          <a:bodyPr/>
          <a:lstStyle/>
          <a:p>
            <a:r>
              <a:rPr lang="hu-HU" dirty="0"/>
              <a:t>Stratégiai menedzsment alapok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3CC676-3CD0-9CB1-F216-326773304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1120"/>
            <a:ext cx="10452642" cy="5273040"/>
          </a:xfrm>
        </p:spPr>
        <p:txBody>
          <a:bodyPr>
            <a:normAutofit/>
          </a:bodyPr>
          <a:lstStyle/>
          <a:p>
            <a:r>
              <a:rPr lang="hu-HU" sz="2800" b="1" u="sng" dirty="0"/>
              <a:t>Gondolatok a célokról:</a:t>
            </a:r>
          </a:p>
          <a:p>
            <a:r>
              <a:rPr lang="hu-HU" sz="3200" dirty="0"/>
              <a:t>A céloknak a küldetést megvalósítását kell segíteniük,</a:t>
            </a:r>
          </a:p>
          <a:p>
            <a:r>
              <a:rPr lang="hu-HU" sz="3200" dirty="0"/>
              <a:t>A siker jelzőrendszere,</a:t>
            </a:r>
          </a:p>
          <a:p>
            <a:r>
              <a:rPr lang="hu-HU" sz="3200" dirty="0"/>
              <a:t>Prioritási sorrendbe állítjuk az elérendő eredményeket,</a:t>
            </a:r>
          </a:p>
          <a:p>
            <a:r>
              <a:rPr lang="hu-HU" sz="3200" dirty="0"/>
              <a:t>Tudunk hozzájuk módszereket rendelni,</a:t>
            </a:r>
          </a:p>
          <a:p>
            <a:r>
              <a:rPr lang="hu-HU" sz="3200" dirty="0"/>
              <a:t>Újra tudjuk gondolni a küldetésünket.</a:t>
            </a:r>
          </a:p>
          <a:p>
            <a:pPr lvl="1"/>
            <a:endParaRPr lang="hu-HU" sz="3000" dirty="0"/>
          </a:p>
          <a:p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3293251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90F29-9DA0-2D2C-A043-4270D5531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572B6D4-CB15-892B-1283-845BEC57F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58735"/>
          </a:xfrm>
        </p:spPr>
        <p:txBody>
          <a:bodyPr/>
          <a:lstStyle/>
          <a:p>
            <a:r>
              <a:rPr lang="hu-HU" dirty="0"/>
              <a:t>Stratégiai menedzsment alapok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5C97C65-3E3D-9820-083D-722A4F2A5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1120"/>
            <a:ext cx="10452642" cy="5273040"/>
          </a:xfrm>
        </p:spPr>
        <p:txBody>
          <a:bodyPr>
            <a:normAutofit/>
          </a:bodyPr>
          <a:lstStyle/>
          <a:p>
            <a:r>
              <a:rPr lang="hu-HU" sz="2800" b="1" u="sng" dirty="0"/>
              <a:t>Gondolatok a célokról:</a:t>
            </a:r>
          </a:p>
          <a:p>
            <a:r>
              <a:rPr lang="hu-HU" sz="3200" dirty="0"/>
              <a:t>Hogyan, milyen módszerekkel és eszközökkel  tudjuk elérni a célokat?</a:t>
            </a:r>
          </a:p>
          <a:p>
            <a:pPr lvl="1"/>
            <a:r>
              <a:rPr lang="hu-HU" sz="3000" dirty="0" err="1"/>
              <a:t>Brainstorming</a:t>
            </a:r>
            <a:endParaRPr lang="hu-HU" sz="3000" dirty="0"/>
          </a:p>
          <a:p>
            <a:pPr lvl="1"/>
            <a:r>
              <a:rPr lang="hu-HU" sz="3000" dirty="0"/>
              <a:t>Összehangolni az erőforrásokat és a lehetőségeket,</a:t>
            </a:r>
          </a:p>
          <a:p>
            <a:pPr lvl="1"/>
            <a:r>
              <a:rPr lang="hu-HU" sz="3000" dirty="0"/>
              <a:t>Korlátok és ellenállás minimalizálása,</a:t>
            </a:r>
          </a:p>
          <a:p>
            <a:pPr lvl="1"/>
            <a:r>
              <a:rPr lang="hu-HU" sz="3000" dirty="0"/>
              <a:t>Érje el az érintetteket,</a:t>
            </a:r>
          </a:p>
          <a:p>
            <a:pPr lvl="1"/>
            <a:r>
              <a:rPr lang="hu-HU" sz="3000" dirty="0"/>
              <a:t>Szolgálja a küldetés megvalósítását.</a:t>
            </a:r>
          </a:p>
          <a:p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3042043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8FD5598-27C4-4505-88A5-1AB961CA8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65390"/>
          </a:xfrm>
        </p:spPr>
        <p:txBody>
          <a:bodyPr/>
          <a:lstStyle/>
          <a:p>
            <a:r>
              <a:rPr lang="hu-HU" dirty="0"/>
              <a:t>Stratégiai fogalomtár elemei:</a:t>
            </a: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37CE702D-86BA-4743-93A0-02073F13F764}"/>
              </a:ext>
            </a:extLst>
          </p:cNvPr>
          <p:cNvSpPr/>
          <p:nvPr/>
        </p:nvSpPr>
        <p:spPr>
          <a:xfrm>
            <a:off x="1251678" y="4486275"/>
            <a:ext cx="3086100" cy="12423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</a:rPr>
              <a:t>Vállalat jelenlegi helyzete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58DD7169-7112-4EEE-BE5E-A56AF0907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9150" y="1430007"/>
            <a:ext cx="2990850" cy="18097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marL="0" indent="0" algn="ctr">
              <a:buNone/>
            </a:pPr>
            <a:r>
              <a:rPr lang="hu-HU" sz="2800" b="1" dirty="0">
                <a:solidFill>
                  <a:schemeClr val="tx1"/>
                </a:solidFill>
              </a:rPr>
              <a:t>Vállalat jövőbeli helyzete (elképzelt célok)</a:t>
            </a:r>
          </a:p>
        </p:txBody>
      </p:sp>
      <p:sp>
        <p:nvSpPr>
          <p:cNvPr id="7" name="Nyíl: szalag, felfelé mutató 6">
            <a:extLst>
              <a:ext uri="{FF2B5EF4-FFF2-40B4-BE49-F238E27FC236}">
                <a16:creationId xmlns:a16="http://schemas.microsoft.com/office/drawing/2014/main" id="{247C63C3-EBD7-424F-8621-CD10B7879E28}"/>
              </a:ext>
            </a:extLst>
          </p:cNvPr>
          <p:cNvSpPr/>
          <p:nvPr/>
        </p:nvSpPr>
        <p:spPr>
          <a:xfrm rot="20331102">
            <a:off x="5076825" y="4202559"/>
            <a:ext cx="4762500" cy="180975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8" name="Nyíl: szalag, lefelé mutató 7">
            <a:extLst>
              <a:ext uri="{FF2B5EF4-FFF2-40B4-BE49-F238E27FC236}">
                <a16:creationId xmlns:a16="http://schemas.microsoft.com/office/drawing/2014/main" id="{38E5D2FF-719B-4AC9-9E5E-3B5C4945B9F6}"/>
              </a:ext>
            </a:extLst>
          </p:cNvPr>
          <p:cNvSpPr/>
          <p:nvPr/>
        </p:nvSpPr>
        <p:spPr>
          <a:xfrm rot="19802226">
            <a:off x="2882272" y="1795193"/>
            <a:ext cx="5686425" cy="157214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9" name="Nyíl: vágott, jobbra mutató 8">
            <a:extLst>
              <a:ext uri="{FF2B5EF4-FFF2-40B4-BE49-F238E27FC236}">
                <a16:creationId xmlns:a16="http://schemas.microsoft.com/office/drawing/2014/main" id="{B2C88939-BC74-4CB6-9595-66192C280840}"/>
              </a:ext>
            </a:extLst>
          </p:cNvPr>
          <p:cNvSpPr/>
          <p:nvPr/>
        </p:nvSpPr>
        <p:spPr>
          <a:xfrm rot="19996462">
            <a:off x="4147462" y="2853406"/>
            <a:ext cx="4320657" cy="1529675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 dirty="0">
                <a:solidFill>
                  <a:schemeClr val="tx1"/>
                </a:solidFill>
              </a:rPr>
              <a:t>Stratégia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AFAADE92-77F7-A8CF-AD4E-8543A60C3553}"/>
              </a:ext>
            </a:extLst>
          </p:cNvPr>
          <p:cNvSpPr txBox="1"/>
          <p:nvPr/>
        </p:nvSpPr>
        <p:spPr>
          <a:xfrm>
            <a:off x="5230184" y="1344064"/>
            <a:ext cx="2104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/>
              <a:t>Szcenárió</a:t>
            </a:r>
            <a:r>
              <a:rPr lang="hu-HU" dirty="0"/>
              <a:t> 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C3918F0A-C49F-7A08-AA87-54F2FFA44793}"/>
              </a:ext>
            </a:extLst>
          </p:cNvPr>
          <p:cNvSpPr txBox="1"/>
          <p:nvPr/>
        </p:nvSpPr>
        <p:spPr>
          <a:xfrm>
            <a:off x="7529262" y="4864523"/>
            <a:ext cx="2104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/>
              <a:t>Szcenárió</a:t>
            </a:r>
            <a:r>
              <a:rPr lang="hu-H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02248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804E9A3-00F0-44F5-B679-6459947A9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vállalati stratégia tartalma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3ACBEA5-E0AD-4C05-B302-0291D4F095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B5E65DD-CD02-4C7B-9BD4-76235795E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223" y="4048125"/>
            <a:ext cx="3668389" cy="2590800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30CEC419-CFFE-4283-B326-84F0C428B870}"/>
              </a:ext>
            </a:extLst>
          </p:cNvPr>
          <p:cNvSpPr txBox="1"/>
          <p:nvPr/>
        </p:nvSpPr>
        <p:spPr>
          <a:xfrm>
            <a:off x="10846837" y="3354636"/>
            <a:ext cx="1247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800" dirty="0"/>
              <a:t>Forrás: http://prourbekft.hu/terra-fejlesztesi-koncepcio-es-strategia--operativ-program/</a:t>
            </a:r>
          </a:p>
        </p:txBody>
      </p:sp>
    </p:spTree>
    <p:extLst>
      <p:ext uri="{BB962C8B-B14F-4D97-AF65-F5344CB8AC3E}">
        <p14:creationId xmlns:p14="http://schemas.microsoft.com/office/powerpoint/2010/main" val="820465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CEDB50-708D-4C80-93F0-40ECF99F1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32065"/>
          </a:xfrm>
        </p:spPr>
        <p:txBody>
          <a:bodyPr/>
          <a:lstStyle/>
          <a:p>
            <a:r>
              <a:rPr lang="hu-HU" dirty="0"/>
              <a:t>A vállalati stratégia tartalma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2753E96-D0D3-48D4-B4B4-AA26BBB8E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14450"/>
            <a:ext cx="10178322" cy="5048250"/>
          </a:xfrm>
        </p:spPr>
        <p:txBody>
          <a:bodyPr/>
          <a:lstStyle/>
          <a:p>
            <a:r>
              <a:rPr lang="hu-HU" sz="2400" dirty="0"/>
              <a:t>A vállalat </a:t>
            </a:r>
            <a:r>
              <a:rPr lang="hu-HU" sz="2400" b="1" dirty="0"/>
              <a:t>úgy juthat el alapvető céljához</a:t>
            </a:r>
            <a:r>
              <a:rPr lang="hu-HU" sz="2400" dirty="0"/>
              <a:t>, ha </a:t>
            </a:r>
            <a:r>
              <a:rPr lang="hu-HU" sz="2400" b="1" dirty="0"/>
              <a:t>versenyelőnyt szerez</a:t>
            </a:r>
            <a:r>
              <a:rPr lang="hu-HU" sz="2400" dirty="0"/>
              <a:t>.</a:t>
            </a:r>
          </a:p>
          <a:p>
            <a:r>
              <a:rPr lang="hu-HU" sz="2400" dirty="0"/>
              <a:t>Tehát </a:t>
            </a:r>
            <a:r>
              <a:rPr lang="hu-HU" sz="2400" b="1" dirty="0"/>
              <a:t>magasabb fogyasztói értéket </a:t>
            </a:r>
            <a:r>
              <a:rPr lang="hu-HU" sz="2400" dirty="0"/>
              <a:t>kell előállítania.</a:t>
            </a:r>
          </a:p>
          <a:p>
            <a:r>
              <a:rPr lang="hu-HU" sz="2400" dirty="0"/>
              <a:t>A stratégia feladata, hogy azt követve a vállalat olyan cselekvési sort valósítson meg, amelynek segítségével a célpiacon nagyobb értéket nyújthat a fogyasztóknak.</a:t>
            </a:r>
          </a:p>
          <a:p>
            <a:r>
              <a:rPr lang="hu-HU" sz="2400" b="1" dirty="0"/>
              <a:t>Mivel a fogyasztói igények időben változnak, ezért a startégiának is folyamatoson változni kell.</a:t>
            </a:r>
            <a:r>
              <a:rPr lang="hu-HU" sz="2400" dirty="0"/>
              <a:t> A stratégia egy dinamikos fogalomként értelmezhető.</a:t>
            </a:r>
          </a:p>
          <a:p>
            <a:r>
              <a:rPr lang="hu-HU" sz="2400" b="1" dirty="0"/>
              <a:t>A folyamatos stratégia változást irányítani, szervezni, tervezni, ellenőrizni kell. Ez a stratégiai menedzsment feladata.</a:t>
            </a:r>
          </a:p>
          <a:p>
            <a:endParaRPr lang="hu-HU" sz="2400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810299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CEDB50-708D-4C80-93F0-40ECF99F1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32065"/>
          </a:xfrm>
        </p:spPr>
        <p:txBody>
          <a:bodyPr/>
          <a:lstStyle/>
          <a:p>
            <a:r>
              <a:rPr lang="hu-HU" dirty="0"/>
              <a:t>A vállalati stratégia tartalma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2753E96-D0D3-48D4-B4B4-AA26BBB8E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14450"/>
            <a:ext cx="10178322" cy="5048250"/>
          </a:xfrm>
        </p:spPr>
        <p:txBody>
          <a:bodyPr/>
          <a:lstStyle/>
          <a:p>
            <a:r>
              <a:rPr lang="hu-HU" sz="2400" dirty="0"/>
              <a:t>A vállalati stratégia </a:t>
            </a:r>
            <a:r>
              <a:rPr lang="hu-HU" sz="2400" b="1" dirty="0"/>
              <a:t>normatív, azaz előírja és kiértékeli a cselekvési alternatívákat</a:t>
            </a:r>
            <a:r>
              <a:rPr lang="hu-HU" sz="2400" dirty="0"/>
              <a:t>.</a:t>
            </a:r>
          </a:p>
          <a:p>
            <a:r>
              <a:rPr lang="hu-HU" sz="2400" b="1" u="sng" dirty="0"/>
              <a:t>Fontos, hogy tartalmazzon</a:t>
            </a:r>
            <a:r>
              <a:rPr lang="hu-HU" sz="2400" u="sng" dirty="0"/>
              <a:t>:</a:t>
            </a:r>
          </a:p>
          <a:p>
            <a:pPr lvl="1"/>
            <a:r>
              <a:rPr lang="hu-HU" sz="2400" b="1" dirty="0"/>
              <a:t>Egy helyzetértékelést </a:t>
            </a:r>
            <a:r>
              <a:rPr lang="hu-HU" sz="2400" dirty="0"/>
              <a:t>– a vállalat jelenlegi helyzetéről és a reálisan a várható jövőről,</a:t>
            </a:r>
          </a:p>
          <a:p>
            <a:pPr lvl="1"/>
            <a:r>
              <a:rPr lang="hu-HU" sz="2400" b="1" dirty="0"/>
              <a:t>Algoritmusokat</a:t>
            </a:r>
            <a:r>
              <a:rPr lang="hu-HU" sz="2400" dirty="0"/>
              <a:t> arra nézve, hogy hogyan jut el a vállalat az elképzelt jövőkép megvalósításához, </a:t>
            </a:r>
          </a:p>
          <a:p>
            <a:pPr lvl="1"/>
            <a:r>
              <a:rPr lang="hu-HU" sz="2400" b="1" dirty="0"/>
              <a:t>Teljesítményértékelő és visszacsatoló mechanizmust </a:t>
            </a:r>
            <a:r>
              <a:rPr lang="hu-HU" sz="2400" dirty="0"/>
              <a:t>a tervezett és tényleges állapot viszonyáról.</a:t>
            </a:r>
          </a:p>
          <a:p>
            <a:endParaRPr lang="hu-HU" sz="2400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927972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CEDB50-708D-4C80-93F0-40ECF99F1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32065"/>
          </a:xfrm>
        </p:spPr>
        <p:txBody>
          <a:bodyPr/>
          <a:lstStyle/>
          <a:p>
            <a:r>
              <a:rPr lang="hu-HU" dirty="0"/>
              <a:t>A vállalati stratégia tartalma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2753E96-D0D3-48D4-B4B4-AA26BBB8E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14450"/>
            <a:ext cx="10178322" cy="5048250"/>
          </a:xfrm>
        </p:spPr>
        <p:txBody>
          <a:bodyPr/>
          <a:lstStyle/>
          <a:p>
            <a:r>
              <a:rPr lang="hu-HU" sz="3200" dirty="0"/>
              <a:t>Ahogy már az előzőekben említésre került a vállalati stratégiának </a:t>
            </a:r>
            <a:r>
              <a:rPr lang="hu-HU" sz="3200" b="1" u="sng" dirty="0"/>
              <a:t>három fő szintjét szokás elkülöníteni</a:t>
            </a:r>
            <a:r>
              <a:rPr lang="hu-HU" sz="3200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3200" b="1" dirty="0"/>
              <a:t>Vállalat egészének stratégiája,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3200" b="1" dirty="0"/>
              <a:t>Egyes üzleti egységek stratégiája,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3200" b="1" dirty="0"/>
              <a:t>Funkcionális vállalati stratégiák.</a:t>
            </a:r>
          </a:p>
          <a:p>
            <a:r>
              <a:rPr lang="hu-HU" sz="3200" dirty="0"/>
              <a:t>A következőkben ezek szinteket vizsgáljuk meg kicsit mélyebben.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687129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CEDB50-708D-4C80-93F0-40ECF99F1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313065"/>
          </a:xfrm>
        </p:spPr>
        <p:txBody>
          <a:bodyPr>
            <a:normAutofit fontScale="90000"/>
          </a:bodyPr>
          <a:lstStyle/>
          <a:p>
            <a:r>
              <a:rPr lang="hu-HU" dirty="0"/>
              <a:t>A vállalati stratégia tartalma</a:t>
            </a:r>
            <a:br>
              <a:rPr lang="hu-HU" dirty="0"/>
            </a:br>
            <a:r>
              <a:rPr lang="hu-HU" dirty="0">
                <a:solidFill>
                  <a:srgbClr val="FF0000"/>
                </a:solidFill>
              </a:rPr>
              <a:t>a vállalat egészének startégiája</a:t>
            </a:r>
          </a:p>
        </p:txBody>
      </p:sp>
      <p:graphicFrame>
        <p:nvGraphicFramePr>
          <p:cNvPr id="4" name="Tartalom helye 3">
            <a:extLst>
              <a:ext uri="{FF2B5EF4-FFF2-40B4-BE49-F238E27FC236}">
                <a16:creationId xmlns:a16="http://schemas.microsoft.com/office/drawing/2014/main" id="{4F92FDC4-33CD-4F49-BBD7-3784E34B32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9034271"/>
              </p:ext>
            </p:extLst>
          </p:nvPr>
        </p:nvGraphicFramePr>
        <p:xfrm>
          <a:off x="1250950" y="1695449"/>
          <a:ext cx="10179050" cy="47801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95896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CEDB50-708D-4C80-93F0-40ECF99F1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313065"/>
          </a:xfrm>
        </p:spPr>
        <p:txBody>
          <a:bodyPr>
            <a:normAutofit fontScale="90000"/>
          </a:bodyPr>
          <a:lstStyle/>
          <a:p>
            <a:r>
              <a:rPr lang="hu-HU" dirty="0"/>
              <a:t>A vállalati stratégia tartalma</a:t>
            </a:r>
            <a:br>
              <a:rPr lang="hu-HU" dirty="0"/>
            </a:br>
            <a:r>
              <a:rPr lang="hu-HU" dirty="0">
                <a:solidFill>
                  <a:srgbClr val="FF0000"/>
                </a:solidFill>
              </a:rPr>
              <a:t>a vállalat egészének startégiája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EA5CE770-2C4F-49F4-8AC4-8AEB0E286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695451"/>
            <a:ext cx="10178322" cy="4695824"/>
          </a:xfrm>
        </p:spPr>
        <p:txBody>
          <a:bodyPr>
            <a:normAutofit/>
          </a:bodyPr>
          <a:lstStyle/>
          <a:p>
            <a:r>
              <a:rPr lang="hu-HU" sz="3200" dirty="0"/>
              <a:t>A vállalati szintű stratégia </a:t>
            </a:r>
            <a:r>
              <a:rPr lang="hu-HU" sz="3200" b="1" dirty="0"/>
              <a:t>végrehajtása központi feladat</a:t>
            </a:r>
            <a:r>
              <a:rPr lang="hu-HU" sz="3200" dirty="0"/>
              <a:t>. Jellemzően ezek a vállalati központok nem állnak kapcsolatban a fogyasztókkal, értékteremtő folyamatok az üzleti egységekben mennek végbe.</a:t>
            </a:r>
          </a:p>
          <a:p>
            <a:r>
              <a:rPr lang="hu-HU" sz="3200" dirty="0"/>
              <a:t>Jellemző, hogy </a:t>
            </a:r>
            <a:r>
              <a:rPr lang="hu-HU" sz="3200" b="1" dirty="0"/>
              <a:t>a központi egységek hozzáadott értéke a hatékonyabb erőforrás kezelésben és a jobb információcserében, valamint az összehangolt működésben érhető tetten</a:t>
            </a:r>
            <a:r>
              <a:rPr lang="hu-HU" sz="3200" dirty="0"/>
              <a:t>.</a:t>
            </a:r>
          </a:p>
          <a:p>
            <a:endParaRPr lang="hu-HU" sz="2800" dirty="0"/>
          </a:p>
          <a:p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32174697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CEDB50-708D-4C80-93F0-40ECF99F1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313065"/>
          </a:xfrm>
        </p:spPr>
        <p:txBody>
          <a:bodyPr>
            <a:normAutofit fontScale="90000"/>
          </a:bodyPr>
          <a:lstStyle/>
          <a:p>
            <a:r>
              <a:rPr lang="hu-HU" dirty="0"/>
              <a:t>A vállalati stratégia tartalma</a:t>
            </a:r>
            <a:br>
              <a:rPr lang="hu-HU" dirty="0"/>
            </a:br>
            <a:r>
              <a:rPr lang="hu-HU" dirty="0">
                <a:solidFill>
                  <a:srgbClr val="FF0000"/>
                </a:solidFill>
              </a:rPr>
              <a:t>az üzleti egységek stratégiája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EA5CE770-2C4F-49F4-8AC4-8AEB0E286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695451"/>
            <a:ext cx="10178322" cy="4695824"/>
          </a:xfrm>
        </p:spPr>
        <p:txBody>
          <a:bodyPr>
            <a:normAutofit lnSpcReduction="10000"/>
          </a:bodyPr>
          <a:lstStyle/>
          <a:p>
            <a:r>
              <a:rPr lang="hu-HU" sz="3200" dirty="0"/>
              <a:t>Jellemzően </a:t>
            </a:r>
            <a:r>
              <a:rPr lang="hu-HU" sz="3200" b="1" dirty="0"/>
              <a:t>az üzleti egységek eltérő fogyasztói igényeket elégítenek ki</a:t>
            </a:r>
            <a:r>
              <a:rPr lang="hu-HU" sz="3200" dirty="0"/>
              <a:t>.</a:t>
            </a:r>
          </a:p>
          <a:p>
            <a:r>
              <a:rPr lang="hu-HU" sz="3200" dirty="0"/>
              <a:t>Tehát, </a:t>
            </a:r>
            <a:r>
              <a:rPr lang="hu-HU" sz="3200" b="1" dirty="0"/>
              <a:t>egy vállalat üzleti egységei nem azonos piacokon jellenek meg</a:t>
            </a:r>
            <a:r>
              <a:rPr lang="hu-HU" sz="3200" dirty="0"/>
              <a:t>, jellemzően nem egymással versenyeznek, sokkal inkább más vállalatok üzleti egységeivel.</a:t>
            </a:r>
          </a:p>
          <a:p>
            <a:r>
              <a:rPr lang="hu-HU" sz="3200" dirty="0"/>
              <a:t>Az </a:t>
            </a:r>
            <a:r>
              <a:rPr lang="hu-HU" sz="3200" b="1" dirty="0"/>
              <a:t>üzleti egységek stratégiájának igazodnia kell a központ stratégiájához</a:t>
            </a:r>
            <a:r>
              <a:rPr lang="hu-HU" sz="3200" dirty="0"/>
              <a:t>, és egy nélkülözhetetlen szektorelemzésből kell kiindulnia.</a:t>
            </a:r>
          </a:p>
          <a:p>
            <a:endParaRPr lang="hu-HU" sz="2800" dirty="0"/>
          </a:p>
          <a:p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26538391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CEDB50-708D-4C80-93F0-40ECF99F1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313065"/>
          </a:xfrm>
        </p:spPr>
        <p:txBody>
          <a:bodyPr>
            <a:normAutofit fontScale="90000"/>
          </a:bodyPr>
          <a:lstStyle/>
          <a:p>
            <a:r>
              <a:rPr lang="hu-HU" dirty="0"/>
              <a:t>A vállalati stratégia tartalma</a:t>
            </a:r>
            <a:br>
              <a:rPr lang="hu-HU" dirty="0"/>
            </a:br>
            <a:r>
              <a:rPr lang="hu-HU" dirty="0">
                <a:solidFill>
                  <a:srgbClr val="FF0000"/>
                </a:solidFill>
              </a:rPr>
              <a:t>az üzleti egységek stratégiája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EA5CE770-2C4F-49F4-8AC4-8AEB0E286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695451"/>
            <a:ext cx="10178322" cy="4695824"/>
          </a:xfrm>
        </p:spPr>
        <p:txBody>
          <a:bodyPr>
            <a:normAutofit lnSpcReduction="10000"/>
          </a:bodyPr>
          <a:lstStyle/>
          <a:p>
            <a:r>
              <a:rPr lang="hu-HU" sz="3200" b="1" u="sng" dirty="0"/>
              <a:t>A szertorelemzésnek ki kell térnie a következőkre:</a:t>
            </a:r>
          </a:p>
          <a:p>
            <a:pPr lvl="1"/>
            <a:r>
              <a:rPr lang="hu-HU" sz="3000" b="1" dirty="0"/>
              <a:t>Beszállítók alkuereje</a:t>
            </a:r>
            <a:r>
              <a:rPr lang="hu-HU" sz="3000" dirty="0"/>
              <a:t>,</a:t>
            </a:r>
          </a:p>
          <a:p>
            <a:pPr lvl="1"/>
            <a:r>
              <a:rPr lang="hu-HU" sz="3000" b="1" dirty="0"/>
              <a:t>A vevők alkuereje</a:t>
            </a:r>
            <a:r>
              <a:rPr lang="hu-HU" sz="3000" dirty="0"/>
              <a:t>, ez a kettő alapvető fontosságú, hogy meg tudjuk becsülni az elvárható nyereséget,</a:t>
            </a:r>
          </a:p>
          <a:p>
            <a:pPr lvl="1"/>
            <a:r>
              <a:rPr lang="hu-HU" sz="3000" b="1" dirty="0"/>
              <a:t>Helyettesitő termékek </a:t>
            </a:r>
            <a:r>
              <a:rPr lang="hu-HU" sz="3000" dirty="0"/>
              <a:t>lehetősége – azaz, van e olyan termék vagy szolgáltatás, ami elszívja vevőinket,</a:t>
            </a:r>
          </a:p>
          <a:p>
            <a:pPr lvl="1"/>
            <a:r>
              <a:rPr lang="hu-HU" sz="3000" b="1" dirty="0"/>
              <a:t>Szektoron belüli verseny </a:t>
            </a:r>
            <a:r>
              <a:rPr lang="hu-HU" sz="3000" dirty="0"/>
              <a:t>– milyen versenytársakkal kell megküzdeni,</a:t>
            </a:r>
          </a:p>
          <a:p>
            <a:pPr lvl="1"/>
            <a:r>
              <a:rPr lang="hu-HU" sz="3000" b="1" dirty="0"/>
              <a:t>Potenciális új versenytársak</a:t>
            </a:r>
            <a:r>
              <a:rPr lang="hu-HU" sz="3000" dirty="0"/>
              <a:t>, akik belépnének a piacra.</a:t>
            </a:r>
          </a:p>
          <a:p>
            <a:endParaRPr lang="hu-HU" sz="2800" dirty="0"/>
          </a:p>
          <a:p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23244159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CEDB50-708D-4C80-93F0-40ECF99F1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313065"/>
          </a:xfrm>
        </p:spPr>
        <p:txBody>
          <a:bodyPr>
            <a:normAutofit fontScale="90000"/>
          </a:bodyPr>
          <a:lstStyle/>
          <a:p>
            <a:r>
              <a:rPr lang="hu-HU" dirty="0"/>
              <a:t>A vállalati stratégia tartalma</a:t>
            </a:r>
            <a:br>
              <a:rPr lang="hu-HU" dirty="0"/>
            </a:br>
            <a:r>
              <a:rPr lang="hu-HU" dirty="0">
                <a:solidFill>
                  <a:srgbClr val="FF0000"/>
                </a:solidFill>
              </a:rPr>
              <a:t>Funkcionális vállalati stratégiák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EA5CE770-2C4F-49F4-8AC4-8AEB0E286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695451"/>
            <a:ext cx="10178322" cy="4695824"/>
          </a:xfrm>
        </p:spPr>
        <p:txBody>
          <a:bodyPr>
            <a:normAutofit fontScale="77500" lnSpcReduction="20000"/>
          </a:bodyPr>
          <a:lstStyle/>
          <a:p>
            <a:r>
              <a:rPr lang="hu-HU" sz="3200" b="1" dirty="0"/>
              <a:t>A funkcionális vállalati stratégiáknak is a vállalat egészének stratégiájához kell igazodnia.</a:t>
            </a:r>
          </a:p>
          <a:p>
            <a:r>
              <a:rPr lang="hu-HU" sz="3200" dirty="0"/>
              <a:t>Jellemzően a teljes vállalatot átfogó fő funkciókra koncentrál a stratégia.</a:t>
            </a:r>
          </a:p>
          <a:p>
            <a:r>
              <a:rPr lang="hu-HU" sz="3200" b="1" dirty="0"/>
              <a:t>Legjellemzőbb területei:</a:t>
            </a:r>
          </a:p>
          <a:p>
            <a:pPr lvl="1"/>
            <a:r>
              <a:rPr lang="hu-HU" sz="3000" dirty="0"/>
              <a:t>Pénzügyi stratégia,</a:t>
            </a:r>
          </a:p>
          <a:p>
            <a:pPr lvl="1"/>
            <a:r>
              <a:rPr lang="hu-HU" sz="3000" dirty="0"/>
              <a:t>Logisztikai stratégia,</a:t>
            </a:r>
          </a:p>
          <a:p>
            <a:pPr lvl="1"/>
            <a:r>
              <a:rPr lang="hu-HU" sz="3000" dirty="0"/>
              <a:t>Humán-erőforrás stratégia,</a:t>
            </a:r>
          </a:p>
          <a:p>
            <a:pPr lvl="1"/>
            <a:r>
              <a:rPr lang="hu-HU" sz="3000" dirty="0"/>
              <a:t>Környezetvédelemmel kapcsolatos startégi,</a:t>
            </a:r>
          </a:p>
          <a:p>
            <a:pPr lvl="1"/>
            <a:r>
              <a:rPr lang="hu-HU" sz="3000" dirty="0"/>
              <a:t>CSR </a:t>
            </a:r>
            <a:r>
              <a:rPr lang="hu-HU" sz="3000" dirty="0" err="1"/>
              <a:t>startégia</a:t>
            </a:r>
            <a:r>
              <a:rPr lang="hu-HU" sz="3000" dirty="0"/>
              <a:t> </a:t>
            </a:r>
            <a:r>
              <a:rPr lang="hu-HU" sz="3000" dirty="0" err="1"/>
              <a:t>Corporate</a:t>
            </a:r>
            <a:r>
              <a:rPr lang="hu-HU" sz="3000" dirty="0"/>
              <a:t> </a:t>
            </a:r>
            <a:r>
              <a:rPr lang="hu-HU" sz="3000" dirty="0" err="1"/>
              <a:t>Social</a:t>
            </a:r>
            <a:r>
              <a:rPr lang="hu-HU" sz="3000" dirty="0"/>
              <a:t> </a:t>
            </a:r>
            <a:r>
              <a:rPr lang="hu-HU" sz="3000" dirty="0" err="1"/>
              <a:t>Responsibility</a:t>
            </a:r>
            <a:r>
              <a:rPr lang="hu-HU" sz="3000" dirty="0"/>
              <a:t>  - Vállalati Társadalmi Felelősségvállalás.</a:t>
            </a:r>
          </a:p>
        </p:txBody>
      </p:sp>
    </p:spTree>
    <p:extLst>
      <p:ext uri="{BB962C8B-B14F-4D97-AF65-F5344CB8AC3E}">
        <p14:creationId xmlns:p14="http://schemas.microsoft.com/office/powerpoint/2010/main" val="6317582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5EA3EC3-9A9D-442C-9C65-68CB36BA7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/>
              <a:t>A vállalati stratégia tartalma</a:t>
            </a:r>
            <a:br>
              <a:rPr lang="hu-HU" dirty="0"/>
            </a:br>
            <a:r>
              <a:rPr lang="hu-HU" dirty="0">
                <a:solidFill>
                  <a:srgbClr val="FF0000"/>
                </a:solidFill>
              </a:rPr>
              <a:t>Funkcionális vállalati stratégiák</a:t>
            </a:r>
            <a:endParaRPr lang="hu-HU" dirty="0"/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370CA6A9-ED45-485A-B2DC-4EF71580E1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489" t="29947" r="42348" b="35600"/>
          <a:stretch/>
        </p:blipFill>
        <p:spPr>
          <a:xfrm>
            <a:off x="1251678" y="1981199"/>
            <a:ext cx="9235347" cy="4689827"/>
          </a:xfrm>
        </p:spPr>
      </p:pic>
    </p:spTree>
    <p:extLst>
      <p:ext uri="{BB962C8B-B14F-4D97-AF65-F5344CB8AC3E}">
        <p14:creationId xmlns:p14="http://schemas.microsoft.com/office/powerpoint/2010/main" val="2624494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620ABAC-48EA-4609-8DB8-222AE12C0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Köszönöm a figyelmet!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D1B4DBC-F7AC-48CA-BF40-7B2111EE8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35610392"/>
      </p:ext>
    </p:extLst>
  </p:cSld>
  <p:clrMapOvr>
    <a:masterClrMapping/>
  </p:clrMapOvr>
</p:sld>
</file>

<file path=ppt/theme/theme1.xml><?xml version="1.0" encoding="utf-8"?>
<a:theme xmlns:a="http://schemas.openxmlformats.org/drawingml/2006/main" name="Jelvény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Jelvény</Template>
  <TotalTime>2106</TotalTime>
  <Words>1667</Words>
  <Application>Microsoft Office PowerPoint</Application>
  <PresentationFormat>Szélesvásznú</PresentationFormat>
  <Paragraphs>185</Paragraphs>
  <Slides>30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30</vt:i4>
      </vt:variant>
    </vt:vector>
  </HeadingPairs>
  <TitlesOfParts>
    <vt:vector size="34" baseType="lpstr">
      <vt:lpstr>Arial</vt:lpstr>
      <vt:lpstr>Gill Sans MT</vt:lpstr>
      <vt:lpstr>Impact</vt:lpstr>
      <vt:lpstr>Jelvény</vt:lpstr>
      <vt:lpstr>Vállalati stratégia</vt:lpstr>
      <vt:lpstr>Vállalati stratégia</vt:lpstr>
      <vt:lpstr>Vállalati stratégia</vt:lpstr>
      <vt:lpstr>Vállalati stratégia</vt:lpstr>
      <vt:lpstr>Vállalati stratégia</vt:lpstr>
      <vt:lpstr>Vállalati stratégia</vt:lpstr>
      <vt:lpstr>A stratégiai fogalomtár néhány fontosabb eleme</vt:lpstr>
      <vt:lpstr>Stratégiai fogalomtár elemei:</vt:lpstr>
      <vt:lpstr>Stratégiai fogalomtár elemei:</vt:lpstr>
      <vt:lpstr>Stratégiai menedzsment alapok</vt:lpstr>
      <vt:lpstr>Stratégiai menedzsment alapok</vt:lpstr>
      <vt:lpstr>Stratégiai menedzsment alapok</vt:lpstr>
      <vt:lpstr>Stratégiai menedzsment alapok</vt:lpstr>
      <vt:lpstr>Stratégiai menedzsment alapok</vt:lpstr>
      <vt:lpstr>Stratégiai menedzsment alapok</vt:lpstr>
      <vt:lpstr>Stratégiai menedzsment alapok</vt:lpstr>
      <vt:lpstr>Stratégiai menedzsment alapok</vt:lpstr>
      <vt:lpstr>Stratégiai menedzsment alapok</vt:lpstr>
      <vt:lpstr>Stratégiai fogalomtár elemei:</vt:lpstr>
      <vt:lpstr>A vállalati stratégia tartalma</vt:lpstr>
      <vt:lpstr>A vállalati stratégia tartalma</vt:lpstr>
      <vt:lpstr>A vállalati stratégia tartalma</vt:lpstr>
      <vt:lpstr>A vállalati stratégia tartalma</vt:lpstr>
      <vt:lpstr>A vállalati stratégia tartalma a vállalat egészének startégiája</vt:lpstr>
      <vt:lpstr>A vállalati stratégia tartalma a vállalat egészének startégiája</vt:lpstr>
      <vt:lpstr>A vállalati stratégia tartalma az üzleti egységek stratégiája</vt:lpstr>
      <vt:lpstr>A vállalati stratégia tartalma az üzleti egységek stratégiája</vt:lpstr>
      <vt:lpstr>A vállalati stratégia tartalma Funkcionális vállalati stratégiák</vt:lpstr>
      <vt:lpstr>A vállalati stratégia tartalma Funkcionális vállalati stratégiák</vt:lpstr>
      <vt:lpstr>Köszönöm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Vállalati startégia</dc:title>
  <dc:creator>Dell</dc:creator>
  <cp:lastModifiedBy>Dell</cp:lastModifiedBy>
  <cp:revision>48</cp:revision>
  <dcterms:created xsi:type="dcterms:W3CDTF">2020-11-15T10:42:54Z</dcterms:created>
  <dcterms:modified xsi:type="dcterms:W3CDTF">2025-03-11T06:55:02Z</dcterms:modified>
</cp:coreProperties>
</file>