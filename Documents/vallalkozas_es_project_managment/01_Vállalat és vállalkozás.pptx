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2B18FE-9144-4006-B55F-3AEBD74AC08D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0EA07EF7-3C8C-43B2-9A88-333F6F9E4FCA}">
      <dgm:prSet phldrT="[Szöveg]" custT="1"/>
      <dgm:spPr/>
      <dgm:t>
        <a:bodyPr/>
        <a:lstStyle/>
        <a:p>
          <a:r>
            <a:rPr lang="hu-HU" sz="2400" dirty="0"/>
            <a:t>Alapvető cél: fogyasztói igények kielégítése nyereség elérése mellett</a:t>
          </a:r>
        </a:p>
      </dgm:t>
    </dgm:pt>
    <dgm:pt modelId="{CFD592C0-6B8F-40F5-A9E2-0F0DA14914B0}" type="parTrans" cxnId="{EDEF538A-F812-43DA-84B2-2D0D5E1212D9}">
      <dgm:prSet/>
      <dgm:spPr/>
      <dgm:t>
        <a:bodyPr/>
        <a:lstStyle/>
        <a:p>
          <a:endParaRPr lang="hu-HU"/>
        </a:p>
      </dgm:t>
    </dgm:pt>
    <dgm:pt modelId="{91F6A489-EC72-4B8F-95F6-93552C287E81}" type="sibTrans" cxnId="{EDEF538A-F812-43DA-84B2-2D0D5E1212D9}">
      <dgm:prSet/>
      <dgm:spPr/>
      <dgm:t>
        <a:bodyPr/>
        <a:lstStyle/>
        <a:p>
          <a:endParaRPr lang="hu-HU"/>
        </a:p>
      </dgm:t>
    </dgm:pt>
    <dgm:pt modelId="{C982182A-543F-4BE9-8A9B-406BA703BB70}">
      <dgm:prSet phldrT="[Szöveg]" custT="1"/>
      <dgm:spPr/>
      <dgm:t>
        <a:bodyPr/>
        <a:lstStyle/>
        <a:p>
          <a:r>
            <a:rPr lang="hu-HU" sz="2400" dirty="0"/>
            <a:t>Küldetés: hogyan, milyen úton akarja elérni az alapvető célt</a:t>
          </a:r>
        </a:p>
      </dgm:t>
    </dgm:pt>
    <dgm:pt modelId="{A8B6ACD2-943C-4958-96ED-58C2DED8B0DC}" type="parTrans" cxnId="{8E76B2E8-6CDB-46D2-8A1E-2477D4CAD584}">
      <dgm:prSet/>
      <dgm:spPr/>
      <dgm:t>
        <a:bodyPr/>
        <a:lstStyle/>
        <a:p>
          <a:endParaRPr lang="hu-HU"/>
        </a:p>
      </dgm:t>
    </dgm:pt>
    <dgm:pt modelId="{C788A82D-140E-48B2-8659-2CF566DBE691}" type="sibTrans" cxnId="{8E76B2E8-6CDB-46D2-8A1E-2477D4CAD584}">
      <dgm:prSet/>
      <dgm:spPr/>
      <dgm:t>
        <a:bodyPr/>
        <a:lstStyle/>
        <a:p>
          <a:endParaRPr lang="hu-HU"/>
        </a:p>
      </dgm:t>
    </dgm:pt>
    <dgm:pt modelId="{F15F1A27-F744-4B5F-A729-E0E6A10BC056}">
      <dgm:prSet phldrT="[Szöveg]" custT="1"/>
      <dgm:spPr/>
      <dgm:t>
        <a:bodyPr/>
        <a:lstStyle/>
        <a:p>
          <a:r>
            <a:rPr lang="hu-HU" sz="2400" dirty="0"/>
            <a:t>Tartós célok: mit kell teljesíteni a küldetés megvalósításához</a:t>
          </a:r>
        </a:p>
      </dgm:t>
    </dgm:pt>
    <dgm:pt modelId="{E043DF8B-0F9C-41CD-A1BD-08488316A8A7}" type="parTrans" cxnId="{88C72183-7C7F-46B6-BA2C-157FB7B09178}">
      <dgm:prSet/>
      <dgm:spPr/>
      <dgm:t>
        <a:bodyPr/>
        <a:lstStyle/>
        <a:p>
          <a:endParaRPr lang="hu-HU"/>
        </a:p>
      </dgm:t>
    </dgm:pt>
    <dgm:pt modelId="{C2AC6582-41D4-4D0E-B34C-73365337CAE6}" type="sibTrans" cxnId="{88C72183-7C7F-46B6-BA2C-157FB7B09178}">
      <dgm:prSet/>
      <dgm:spPr/>
      <dgm:t>
        <a:bodyPr/>
        <a:lstStyle/>
        <a:p>
          <a:endParaRPr lang="hu-HU"/>
        </a:p>
      </dgm:t>
    </dgm:pt>
    <dgm:pt modelId="{9AB77611-08ED-4381-B01F-1E0F38BE59A5}">
      <dgm:prSet custT="1"/>
      <dgm:spPr/>
      <dgm:t>
        <a:bodyPr/>
        <a:lstStyle/>
        <a:p>
          <a:r>
            <a:rPr lang="hu-HU" sz="2400" dirty="0"/>
            <a:t>Közvetlen irányítási célok</a:t>
          </a:r>
        </a:p>
      </dgm:t>
    </dgm:pt>
    <dgm:pt modelId="{104608EA-D7DB-484D-BF03-87DAB25F0D9D}" type="parTrans" cxnId="{D0F2FD02-943D-4E1E-B190-8AD9931E82D9}">
      <dgm:prSet/>
      <dgm:spPr/>
    </dgm:pt>
    <dgm:pt modelId="{8A141CC6-FD96-4E78-97E4-B57FE3A555E5}" type="sibTrans" cxnId="{D0F2FD02-943D-4E1E-B190-8AD9931E82D9}">
      <dgm:prSet/>
      <dgm:spPr/>
    </dgm:pt>
    <dgm:pt modelId="{C4D86CA2-510B-481E-BDF1-EF73FBE97EE7}">
      <dgm:prSet custT="1"/>
      <dgm:spPr/>
      <dgm:t>
        <a:bodyPr/>
        <a:lstStyle/>
        <a:p>
          <a:r>
            <a:rPr lang="hu-HU" sz="2400" dirty="0"/>
            <a:t>Operatív működési célok</a:t>
          </a:r>
        </a:p>
      </dgm:t>
    </dgm:pt>
    <dgm:pt modelId="{FD10F3E4-CB75-479E-8BCB-91D758F720E3}" type="parTrans" cxnId="{651A0AB5-5F95-427A-B0D1-038E9A82D0A8}">
      <dgm:prSet/>
      <dgm:spPr/>
    </dgm:pt>
    <dgm:pt modelId="{F54DF7B1-CEE9-473C-A329-8DBEAA4D20AA}" type="sibTrans" cxnId="{651A0AB5-5F95-427A-B0D1-038E9A82D0A8}">
      <dgm:prSet/>
      <dgm:spPr/>
    </dgm:pt>
    <dgm:pt modelId="{4A1D555C-9F23-4C4D-8329-E076DDD380E8}" type="pres">
      <dgm:prSet presAssocID="{762B18FE-9144-4006-B55F-3AEBD74AC08D}" presName="compositeShape" presStyleCnt="0">
        <dgm:presLayoutVars>
          <dgm:dir/>
          <dgm:resizeHandles/>
        </dgm:presLayoutVars>
      </dgm:prSet>
      <dgm:spPr/>
    </dgm:pt>
    <dgm:pt modelId="{D484625B-4759-40A4-98A5-00A106191169}" type="pres">
      <dgm:prSet presAssocID="{762B18FE-9144-4006-B55F-3AEBD74AC08D}" presName="pyramid" presStyleLbl="node1" presStyleIdx="0" presStyleCnt="1" custLinFactNeighborX="-35220" custLinFactNeighborY="-443"/>
      <dgm:spPr/>
    </dgm:pt>
    <dgm:pt modelId="{420FE3CE-DFC9-4D43-8BF6-E4009B4B9324}" type="pres">
      <dgm:prSet presAssocID="{762B18FE-9144-4006-B55F-3AEBD74AC08D}" presName="theList" presStyleCnt="0"/>
      <dgm:spPr/>
    </dgm:pt>
    <dgm:pt modelId="{26542709-E8A1-4F72-8FE4-92CC7D2F3D11}" type="pres">
      <dgm:prSet presAssocID="{0EA07EF7-3C8C-43B2-9A88-333F6F9E4FCA}" presName="aNode" presStyleLbl="fgAcc1" presStyleIdx="0" presStyleCnt="5" custScaleX="360172" custScaleY="25744" custLinFactY="-3672" custLinFactNeighborX="0" custLinFactNeighborY="-100000">
        <dgm:presLayoutVars>
          <dgm:bulletEnabled val="1"/>
        </dgm:presLayoutVars>
      </dgm:prSet>
      <dgm:spPr/>
    </dgm:pt>
    <dgm:pt modelId="{3A93BB22-333C-4034-BF97-14FFA089C61F}" type="pres">
      <dgm:prSet presAssocID="{0EA07EF7-3C8C-43B2-9A88-333F6F9E4FCA}" presName="aSpace" presStyleCnt="0"/>
      <dgm:spPr/>
    </dgm:pt>
    <dgm:pt modelId="{F465B180-23FD-4DF7-8DAF-227003828397}" type="pres">
      <dgm:prSet presAssocID="{C982182A-543F-4BE9-8A9B-406BA703BB70}" presName="aNode" presStyleLbl="fgAcc1" presStyleIdx="1" presStyleCnt="5" custScaleX="360172" custScaleY="26096" custLinFactNeighborX="238" custLinFactNeighborY="-36716">
        <dgm:presLayoutVars>
          <dgm:bulletEnabled val="1"/>
        </dgm:presLayoutVars>
      </dgm:prSet>
      <dgm:spPr/>
    </dgm:pt>
    <dgm:pt modelId="{B1C07953-A3D1-4815-A171-744F65F6DD53}" type="pres">
      <dgm:prSet presAssocID="{C982182A-543F-4BE9-8A9B-406BA703BB70}" presName="aSpace" presStyleCnt="0"/>
      <dgm:spPr/>
    </dgm:pt>
    <dgm:pt modelId="{A66FACC4-F87F-405B-B401-89EF98582B0D}" type="pres">
      <dgm:prSet presAssocID="{F15F1A27-F744-4B5F-A729-E0E6A10BC056}" presName="aNode" presStyleLbl="fgAcc1" presStyleIdx="2" presStyleCnt="5" custScaleX="360172" custScaleY="28905" custLinFactY="1827" custLinFactNeighborY="100000">
        <dgm:presLayoutVars>
          <dgm:bulletEnabled val="1"/>
        </dgm:presLayoutVars>
      </dgm:prSet>
      <dgm:spPr/>
    </dgm:pt>
    <dgm:pt modelId="{767BD176-09F0-46F9-9BE2-9C83B8FE3BC0}" type="pres">
      <dgm:prSet presAssocID="{F15F1A27-F744-4B5F-A729-E0E6A10BC056}" presName="aSpace" presStyleCnt="0"/>
      <dgm:spPr/>
    </dgm:pt>
    <dgm:pt modelId="{BFA5C21E-36B0-47D6-A7F5-94D4902688D5}" type="pres">
      <dgm:prSet presAssocID="{9AB77611-08ED-4381-B01F-1E0F38BE59A5}" presName="aNode" presStyleLbl="fgAcc1" presStyleIdx="3" presStyleCnt="5" custScaleX="360172" custScaleY="29125" custLinFactY="15303" custLinFactNeighborY="100000">
        <dgm:presLayoutVars>
          <dgm:bulletEnabled val="1"/>
        </dgm:presLayoutVars>
      </dgm:prSet>
      <dgm:spPr/>
    </dgm:pt>
    <dgm:pt modelId="{7A63693F-BAB7-4827-8533-F968BE60965A}" type="pres">
      <dgm:prSet presAssocID="{9AB77611-08ED-4381-B01F-1E0F38BE59A5}" presName="aSpace" presStyleCnt="0"/>
      <dgm:spPr/>
    </dgm:pt>
    <dgm:pt modelId="{5E3F052E-B23C-4DF1-BB8E-DE54219CB18F}" type="pres">
      <dgm:prSet presAssocID="{C4D86CA2-510B-481E-BDF1-EF73FBE97EE7}" presName="aNode" presStyleLbl="fgAcc1" presStyleIdx="4" presStyleCnt="5" custScaleX="360172" custScaleY="32692" custLinFactY="26697" custLinFactNeighborY="100000">
        <dgm:presLayoutVars>
          <dgm:bulletEnabled val="1"/>
        </dgm:presLayoutVars>
      </dgm:prSet>
      <dgm:spPr/>
    </dgm:pt>
    <dgm:pt modelId="{D1DCCEAB-718E-4C29-AEE9-B2161237CE49}" type="pres">
      <dgm:prSet presAssocID="{C4D86CA2-510B-481E-BDF1-EF73FBE97EE7}" presName="aSpace" presStyleCnt="0"/>
      <dgm:spPr/>
    </dgm:pt>
  </dgm:ptLst>
  <dgm:cxnLst>
    <dgm:cxn modelId="{D0F2FD02-943D-4E1E-B190-8AD9931E82D9}" srcId="{762B18FE-9144-4006-B55F-3AEBD74AC08D}" destId="{9AB77611-08ED-4381-B01F-1E0F38BE59A5}" srcOrd="3" destOrd="0" parTransId="{104608EA-D7DB-484D-BF03-87DAB25F0D9D}" sibTransId="{8A141CC6-FD96-4E78-97E4-B57FE3A555E5}"/>
    <dgm:cxn modelId="{D988DA15-83A3-4DFE-9D0E-294B31A4E3A9}" type="presOf" srcId="{C982182A-543F-4BE9-8A9B-406BA703BB70}" destId="{F465B180-23FD-4DF7-8DAF-227003828397}" srcOrd="0" destOrd="0" presId="urn:microsoft.com/office/officeart/2005/8/layout/pyramid2"/>
    <dgm:cxn modelId="{D5E32526-8951-4ED0-A0C9-50801921DC6E}" type="presOf" srcId="{0EA07EF7-3C8C-43B2-9A88-333F6F9E4FCA}" destId="{26542709-E8A1-4F72-8FE4-92CC7D2F3D11}" srcOrd="0" destOrd="0" presId="urn:microsoft.com/office/officeart/2005/8/layout/pyramid2"/>
    <dgm:cxn modelId="{37E6D46C-8B8B-4B04-853C-950823D5A954}" type="presOf" srcId="{F15F1A27-F744-4B5F-A729-E0E6A10BC056}" destId="{A66FACC4-F87F-405B-B401-89EF98582B0D}" srcOrd="0" destOrd="0" presId="urn:microsoft.com/office/officeart/2005/8/layout/pyramid2"/>
    <dgm:cxn modelId="{88C72183-7C7F-46B6-BA2C-157FB7B09178}" srcId="{762B18FE-9144-4006-B55F-3AEBD74AC08D}" destId="{F15F1A27-F744-4B5F-A729-E0E6A10BC056}" srcOrd="2" destOrd="0" parTransId="{E043DF8B-0F9C-41CD-A1BD-08488316A8A7}" sibTransId="{C2AC6582-41D4-4D0E-B34C-73365337CAE6}"/>
    <dgm:cxn modelId="{91A1DC86-5E34-40D7-96D5-23B68790F3DE}" type="presOf" srcId="{762B18FE-9144-4006-B55F-3AEBD74AC08D}" destId="{4A1D555C-9F23-4C4D-8329-E076DDD380E8}" srcOrd="0" destOrd="0" presId="urn:microsoft.com/office/officeart/2005/8/layout/pyramid2"/>
    <dgm:cxn modelId="{EDEF538A-F812-43DA-84B2-2D0D5E1212D9}" srcId="{762B18FE-9144-4006-B55F-3AEBD74AC08D}" destId="{0EA07EF7-3C8C-43B2-9A88-333F6F9E4FCA}" srcOrd="0" destOrd="0" parTransId="{CFD592C0-6B8F-40F5-A9E2-0F0DA14914B0}" sibTransId="{91F6A489-EC72-4B8F-95F6-93552C287E81}"/>
    <dgm:cxn modelId="{B016DF93-C6DE-4792-B019-CDBDDF1FFC6E}" type="presOf" srcId="{C4D86CA2-510B-481E-BDF1-EF73FBE97EE7}" destId="{5E3F052E-B23C-4DF1-BB8E-DE54219CB18F}" srcOrd="0" destOrd="0" presId="urn:microsoft.com/office/officeart/2005/8/layout/pyramid2"/>
    <dgm:cxn modelId="{651A0AB5-5F95-427A-B0D1-038E9A82D0A8}" srcId="{762B18FE-9144-4006-B55F-3AEBD74AC08D}" destId="{C4D86CA2-510B-481E-BDF1-EF73FBE97EE7}" srcOrd="4" destOrd="0" parTransId="{FD10F3E4-CB75-479E-8BCB-91D758F720E3}" sibTransId="{F54DF7B1-CEE9-473C-A329-8DBEAA4D20AA}"/>
    <dgm:cxn modelId="{1F4E85E7-4830-4AC3-92BD-6B48160E3A90}" type="presOf" srcId="{9AB77611-08ED-4381-B01F-1E0F38BE59A5}" destId="{BFA5C21E-36B0-47D6-A7F5-94D4902688D5}" srcOrd="0" destOrd="0" presId="urn:microsoft.com/office/officeart/2005/8/layout/pyramid2"/>
    <dgm:cxn modelId="{8E76B2E8-6CDB-46D2-8A1E-2477D4CAD584}" srcId="{762B18FE-9144-4006-B55F-3AEBD74AC08D}" destId="{C982182A-543F-4BE9-8A9B-406BA703BB70}" srcOrd="1" destOrd="0" parTransId="{A8B6ACD2-943C-4958-96ED-58C2DED8B0DC}" sibTransId="{C788A82D-140E-48B2-8659-2CF566DBE691}"/>
    <dgm:cxn modelId="{90B8B351-FC61-4B96-89D7-62810371C814}" type="presParOf" srcId="{4A1D555C-9F23-4C4D-8329-E076DDD380E8}" destId="{D484625B-4759-40A4-98A5-00A106191169}" srcOrd="0" destOrd="0" presId="urn:microsoft.com/office/officeart/2005/8/layout/pyramid2"/>
    <dgm:cxn modelId="{25F69226-77C9-46DA-B5D1-AB80E5D1F3B1}" type="presParOf" srcId="{4A1D555C-9F23-4C4D-8329-E076DDD380E8}" destId="{420FE3CE-DFC9-4D43-8BF6-E4009B4B9324}" srcOrd="1" destOrd="0" presId="urn:microsoft.com/office/officeart/2005/8/layout/pyramid2"/>
    <dgm:cxn modelId="{B752629A-9BD6-4E51-B474-7DDA1FB2F733}" type="presParOf" srcId="{420FE3CE-DFC9-4D43-8BF6-E4009B4B9324}" destId="{26542709-E8A1-4F72-8FE4-92CC7D2F3D11}" srcOrd="0" destOrd="0" presId="urn:microsoft.com/office/officeart/2005/8/layout/pyramid2"/>
    <dgm:cxn modelId="{5F9657C1-5291-4FA3-9F59-EDBA7FA42ED8}" type="presParOf" srcId="{420FE3CE-DFC9-4D43-8BF6-E4009B4B9324}" destId="{3A93BB22-333C-4034-BF97-14FFA089C61F}" srcOrd="1" destOrd="0" presId="urn:microsoft.com/office/officeart/2005/8/layout/pyramid2"/>
    <dgm:cxn modelId="{25C12856-2FF4-49C3-A90F-C3F86AEE4887}" type="presParOf" srcId="{420FE3CE-DFC9-4D43-8BF6-E4009B4B9324}" destId="{F465B180-23FD-4DF7-8DAF-227003828397}" srcOrd="2" destOrd="0" presId="urn:microsoft.com/office/officeart/2005/8/layout/pyramid2"/>
    <dgm:cxn modelId="{73A47D20-20FC-4100-B15F-CA069F6E7FA8}" type="presParOf" srcId="{420FE3CE-DFC9-4D43-8BF6-E4009B4B9324}" destId="{B1C07953-A3D1-4815-A171-744F65F6DD53}" srcOrd="3" destOrd="0" presId="urn:microsoft.com/office/officeart/2005/8/layout/pyramid2"/>
    <dgm:cxn modelId="{B28ACBC2-B64C-4A07-BB92-732F0B96184D}" type="presParOf" srcId="{420FE3CE-DFC9-4D43-8BF6-E4009B4B9324}" destId="{A66FACC4-F87F-405B-B401-89EF98582B0D}" srcOrd="4" destOrd="0" presId="urn:microsoft.com/office/officeart/2005/8/layout/pyramid2"/>
    <dgm:cxn modelId="{3584C3B4-4B61-4C94-8A0E-21C21A7CB5A8}" type="presParOf" srcId="{420FE3CE-DFC9-4D43-8BF6-E4009B4B9324}" destId="{767BD176-09F0-46F9-9BE2-9C83B8FE3BC0}" srcOrd="5" destOrd="0" presId="urn:microsoft.com/office/officeart/2005/8/layout/pyramid2"/>
    <dgm:cxn modelId="{DC95D853-5E94-4D4F-91F9-3DD4F0889F6F}" type="presParOf" srcId="{420FE3CE-DFC9-4D43-8BF6-E4009B4B9324}" destId="{BFA5C21E-36B0-47D6-A7F5-94D4902688D5}" srcOrd="6" destOrd="0" presId="urn:microsoft.com/office/officeart/2005/8/layout/pyramid2"/>
    <dgm:cxn modelId="{C7E826F2-5851-4C86-9405-069B6A396E4E}" type="presParOf" srcId="{420FE3CE-DFC9-4D43-8BF6-E4009B4B9324}" destId="{7A63693F-BAB7-4827-8533-F968BE60965A}" srcOrd="7" destOrd="0" presId="urn:microsoft.com/office/officeart/2005/8/layout/pyramid2"/>
    <dgm:cxn modelId="{2644984C-6AFE-4BAD-BB93-46F47B2112C4}" type="presParOf" srcId="{420FE3CE-DFC9-4D43-8BF6-E4009B4B9324}" destId="{5E3F052E-B23C-4DF1-BB8E-DE54219CB18F}" srcOrd="8" destOrd="0" presId="urn:microsoft.com/office/officeart/2005/8/layout/pyramid2"/>
    <dgm:cxn modelId="{0B3F5C91-2956-4A1D-9FF3-8F1070ACE996}" type="presParOf" srcId="{420FE3CE-DFC9-4D43-8BF6-E4009B4B9324}" destId="{D1DCCEAB-718E-4C29-AEE9-B2161237CE49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4625B-4759-40A4-98A5-00A106191169}">
      <dsp:nvSpPr>
        <dsp:cNvPr id="0" name=""/>
        <dsp:cNvSpPr/>
      </dsp:nvSpPr>
      <dsp:spPr>
        <a:xfrm>
          <a:off x="0" y="0"/>
          <a:ext cx="4347633" cy="434763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42709-E8A1-4F72-8FE4-92CC7D2F3D11}">
      <dsp:nvSpPr>
        <dsp:cNvPr id="0" name=""/>
        <dsp:cNvSpPr/>
      </dsp:nvSpPr>
      <dsp:spPr>
        <a:xfrm>
          <a:off x="0" y="161922"/>
          <a:ext cx="10178321" cy="4363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Alapvető cél: fogyasztói igények kielégítése nyereség elérése mellett</a:t>
          </a:r>
        </a:p>
      </dsp:txBody>
      <dsp:txXfrm>
        <a:off x="21300" y="183222"/>
        <a:ext cx="10135721" cy="393734"/>
      </dsp:txXfrm>
    </dsp:sp>
    <dsp:sp modelId="{F465B180-23FD-4DF7-8DAF-227003828397}">
      <dsp:nvSpPr>
        <dsp:cNvPr id="0" name=""/>
        <dsp:cNvSpPr/>
      </dsp:nvSpPr>
      <dsp:spPr>
        <a:xfrm>
          <a:off x="0" y="1006430"/>
          <a:ext cx="10178321" cy="44230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Küldetés: hogyan, milyen úton akarja elérni az alapvető célt</a:t>
          </a:r>
        </a:p>
      </dsp:txBody>
      <dsp:txXfrm>
        <a:off x="21591" y="1028021"/>
        <a:ext cx="10135139" cy="399118"/>
      </dsp:txXfrm>
    </dsp:sp>
    <dsp:sp modelId="{A66FACC4-F87F-405B-B401-89EF98582B0D}">
      <dsp:nvSpPr>
        <dsp:cNvPr id="0" name=""/>
        <dsp:cNvSpPr/>
      </dsp:nvSpPr>
      <dsp:spPr>
        <a:xfrm>
          <a:off x="0" y="1981208"/>
          <a:ext cx="10178321" cy="4899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Tartós célok: mit kell teljesíteni a küldetés megvalósításához</a:t>
          </a:r>
        </a:p>
      </dsp:txBody>
      <dsp:txXfrm>
        <a:off x="23915" y="2005123"/>
        <a:ext cx="10130491" cy="442080"/>
      </dsp:txXfrm>
    </dsp:sp>
    <dsp:sp modelId="{BFA5C21E-36B0-47D6-A7F5-94D4902688D5}">
      <dsp:nvSpPr>
        <dsp:cNvPr id="0" name=""/>
        <dsp:cNvSpPr/>
      </dsp:nvSpPr>
      <dsp:spPr>
        <a:xfrm>
          <a:off x="0" y="2911385"/>
          <a:ext cx="10178321" cy="493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Közvetlen irányítási célok</a:t>
          </a:r>
        </a:p>
      </dsp:txBody>
      <dsp:txXfrm>
        <a:off x="24097" y="2935482"/>
        <a:ext cx="10130127" cy="445444"/>
      </dsp:txXfrm>
    </dsp:sp>
    <dsp:sp modelId="{5E3F052E-B23C-4DF1-BB8E-DE54219CB18F}">
      <dsp:nvSpPr>
        <dsp:cNvPr id="0" name=""/>
        <dsp:cNvSpPr/>
      </dsp:nvSpPr>
      <dsp:spPr>
        <a:xfrm>
          <a:off x="0" y="3793537"/>
          <a:ext cx="10178321" cy="55409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Operatív működési célok</a:t>
          </a:r>
        </a:p>
      </dsp:txBody>
      <dsp:txXfrm>
        <a:off x="27049" y="3820586"/>
        <a:ext cx="10124223" cy="499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3A6006-B6A7-4C94-B7C6-5174DF5ED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Vállalat és vállalkozás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44CAD5-A91D-4796-BEDE-F49DE42D9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388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3B388C-FB7B-46BE-95DA-FB7D1D1C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 és üzleti vállalkozás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510C336-C9E4-472D-8A12-55B555EBD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719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FE608-5B2F-4123-9499-201C9B2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08240"/>
          </a:xfrm>
        </p:spPr>
        <p:txBody>
          <a:bodyPr/>
          <a:lstStyle/>
          <a:p>
            <a:r>
              <a:rPr lang="hu-HU" dirty="0"/>
              <a:t>Szervezet meghatározása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B01874-2E5D-4C88-BF6E-3BBBA7FD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90625"/>
            <a:ext cx="10178322" cy="5284990"/>
          </a:xfrm>
        </p:spPr>
        <p:txBody>
          <a:bodyPr>
            <a:normAutofit/>
          </a:bodyPr>
          <a:lstStyle/>
          <a:p>
            <a:r>
              <a:rPr lang="hu-HU" sz="2800" dirty="0"/>
              <a:t>Valamely cél elérése érdekében az ember szövetséget kötnek, így közösen látnak el feladatokat.</a:t>
            </a:r>
          </a:p>
          <a:p>
            <a:r>
              <a:rPr lang="hu-HU" sz="2800" dirty="0"/>
              <a:t>Szövetség eredményeképpen kialakult struktúrát szervezetnek nevezzük.</a:t>
            </a:r>
            <a:endParaRPr lang="hu-HU" sz="2400" dirty="0"/>
          </a:p>
          <a:p>
            <a:r>
              <a:rPr lang="hu-HU" sz="2800" b="1" dirty="0"/>
              <a:t>Szervezet: olyan rendszer, amelynek működése emberi cselekvésen keresztül valósul meg.</a:t>
            </a:r>
          </a:p>
          <a:p>
            <a:r>
              <a:rPr lang="hu-HU" sz="2800" dirty="0"/>
              <a:t>A szervezet tevékenységének irányultságát annak alapvető célja határozza meg.</a:t>
            </a:r>
          </a:p>
          <a:p>
            <a:r>
              <a:rPr lang="hu-HU" sz="2800" b="1" dirty="0"/>
              <a:t>Alapvető cél: a szervezet létének értelmét kifejező cél.</a:t>
            </a:r>
          </a:p>
        </p:txBody>
      </p:sp>
    </p:spTree>
    <p:extLst>
      <p:ext uri="{BB962C8B-B14F-4D97-AF65-F5344CB8AC3E}">
        <p14:creationId xmlns:p14="http://schemas.microsoft.com/office/powerpoint/2010/main" val="99787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FE608-5B2F-4123-9499-201C9B2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08240"/>
          </a:xfrm>
        </p:spPr>
        <p:txBody>
          <a:bodyPr/>
          <a:lstStyle/>
          <a:p>
            <a:r>
              <a:rPr lang="hu-HU" dirty="0"/>
              <a:t>Üzleti vállalkozás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B01874-2E5D-4C88-BF6E-3BBBA7FD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90625"/>
            <a:ext cx="10178322" cy="5284990"/>
          </a:xfrm>
        </p:spPr>
        <p:txBody>
          <a:bodyPr>
            <a:normAutofit/>
          </a:bodyPr>
          <a:lstStyle/>
          <a:p>
            <a:r>
              <a:rPr lang="hu-HU" sz="2800" b="1" dirty="0"/>
              <a:t>Üzleti vállalkozás: olyan emberi tevékenység, amelynek alapvető célja, létének értelme valamely fogyasztói (vevői) igény kielégítése, nyereség elérése mellett.</a:t>
            </a:r>
          </a:p>
          <a:p>
            <a:r>
              <a:rPr lang="hu-HU" sz="2800" dirty="0"/>
              <a:t>Üzleti vállalkozást folytathatnak egyének egyedül vagy összefogással, azonban, ha összefogással teszik, annak meg kell felelnie a jogrendben meghatározottaknak.</a:t>
            </a:r>
          </a:p>
          <a:p>
            <a:r>
              <a:rPr lang="hu-HU" sz="2800" dirty="0"/>
              <a:t>Az üzleti vállalkozások létrehozásának jogi és szervezti formáival a későbbiek során még foglalkozunk.</a:t>
            </a:r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04762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FE608-5B2F-4123-9499-201C9B2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08240"/>
          </a:xfrm>
        </p:spPr>
        <p:txBody>
          <a:bodyPr/>
          <a:lstStyle/>
          <a:p>
            <a:r>
              <a:rPr lang="hu-HU" dirty="0"/>
              <a:t>Üzleti vállalkozás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B01874-2E5D-4C88-BF6E-3BBBA7FD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90625"/>
            <a:ext cx="10178322" cy="528499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Üzleti vállalkozás feltételei:</a:t>
            </a:r>
          </a:p>
          <a:p>
            <a:pPr marL="514350" indent="-514350">
              <a:buFont typeface="+mj-lt"/>
              <a:buAutoNum type="alphaLcParenR"/>
            </a:pPr>
            <a:r>
              <a:rPr lang="hu-HU" sz="2800" b="1" dirty="0"/>
              <a:t>A szervezet önálló alapvető céljának meghatározásában, azaz módjában áll a helyzetet és a körülményeket saját szempontjai szerint értékelni.</a:t>
            </a:r>
          </a:p>
          <a:p>
            <a:pPr marL="971550" lvl="1" indent="-514350">
              <a:buFont typeface="+mj-lt"/>
              <a:buAutoNum type="alphaLcParenR"/>
            </a:pPr>
            <a:r>
              <a:rPr lang="hu-HU" sz="2600" i="1" dirty="0"/>
              <a:t>Itt meg kell jegyzeni, hogy az önállóság természetesen minden esetben viszonylagos.</a:t>
            </a:r>
          </a:p>
          <a:p>
            <a:pPr marL="514350" indent="-514350">
              <a:buFont typeface="+mj-lt"/>
              <a:buAutoNum type="alphaLcParenR"/>
            </a:pPr>
            <a:r>
              <a:rPr lang="hu-HU" sz="2800" b="1" dirty="0"/>
              <a:t>Saját üzleti tevékenysége révén kell biztosítani fennmaradását, túlélését.  </a:t>
            </a:r>
            <a:r>
              <a:rPr lang="hu-HU" sz="2800" dirty="0"/>
              <a:t>Azaz legalább közepes és hosszú távon biztosítani kell, hogy működés során keletkező </a:t>
            </a:r>
            <a:r>
              <a:rPr lang="hu-HU" sz="2800" b="1" dirty="0"/>
              <a:t>ráfordítások ne haladják meg a keletkező bevételeket</a:t>
            </a:r>
            <a:r>
              <a:rPr lang="hu-H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07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3FE608-5B2F-4123-9499-201C9B2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08240"/>
          </a:xfrm>
        </p:spPr>
        <p:txBody>
          <a:bodyPr/>
          <a:lstStyle/>
          <a:p>
            <a:r>
              <a:rPr lang="hu-HU" dirty="0"/>
              <a:t>Üzleti vállalkozás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B01874-2E5D-4C88-BF6E-3BBBA7FDC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90625"/>
            <a:ext cx="10178322" cy="5284990"/>
          </a:xfrm>
        </p:spPr>
        <p:txBody>
          <a:bodyPr>
            <a:normAutofit lnSpcReduction="10000"/>
          </a:bodyPr>
          <a:lstStyle/>
          <a:p>
            <a:r>
              <a:rPr lang="hu-HU" sz="2800" b="1" u="sng" dirty="0"/>
              <a:t>Üzleti vállalkozás feltételei:</a:t>
            </a:r>
          </a:p>
          <a:p>
            <a:pPr marL="514350" indent="-514350">
              <a:buFont typeface="+mj-lt"/>
              <a:buAutoNum type="alphaLcParenR" startAt="3"/>
            </a:pPr>
            <a:r>
              <a:rPr lang="hu-HU" sz="2800" b="1" dirty="0"/>
              <a:t>Kockázat vállalás</a:t>
            </a:r>
            <a:r>
              <a:rPr lang="hu-HU" sz="2800" dirty="0"/>
              <a:t>, azaz a profitszerzés alapvető feltétele, hogy a vállalkozás befektetéseket eszközöljön, lekösse pénzét beruházásokban, készletekben, amelyek megtérülése csak később várható.</a:t>
            </a:r>
          </a:p>
          <a:p>
            <a:pPr marL="514350" indent="-514350">
              <a:buFont typeface="+mj-lt"/>
              <a:buAutoNum type="alphaLcParenR" startAt="3"/>
            </a:pPr>
            <a:r>
              <a:rPr lang="hu-HU" sz="2800" b="1" dirty="0"/>
              <a:t>Valós piacon való működés</a:t>
            </a:r>
            <a:r>
              <a:rPr lang="hu-HU" sz="2800" dirty="0"/>
              <a:t>, azaz a beszerzési és eladási árakat a piaci mechanizmusok határozzák meg, ne valamely más szervezet autokratikus döntése.</a:t>
            </a:r>
          </a:p>
          <a:p>
            <a:r>
              <a:rPr lang="hu-HU" sz="2800" dirty="0"/>
              <a:t>Meg kell jegyezni, hogy az igénykielégítésben nem csak vállalkozások vehetnek részt, pl. az egészségügy területen az állami intézmények is elégítenek ki igényt, de nem nyereségelérési célzattal.</a:t>
            </a:r>
          </a:p>
          <a:p>
            <a:pPr marL="514350" indent="-514350">
              <a:buFont typeface="+mj-lt"/>
              <a:buAutoNum type="alphaLcParenR" startAt="3"/>
            </a:pP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26825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116CB1-E7A5-43CB-B96B-10AA986D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Az üzleti vállalkozás alapvető célja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CF0A12B-B2BA-4C57-88ED-A8EEA57DF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255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57300"/>
            <a:ext cx="10178322" cy="5029199"/>
          </a:xfrm>
        </p:spPr>
        <p:txBody>
          <a:bodyPr>
            <a:normAutofit/>
          </a:bodyPr>
          <a:lstStyle/>
          <a:p>
            <a:r>
              <a:rPr lang="hu-HU" sz="4000" dirty="0"/>
              <a:t>Minden vállalat egy szervezet – olyan rendszer, amelynek működése emberi cselekedetek keresztül valósul meg.</a:t>
            </a:r>
          </a:p>
          <a:p>
            <a:r>
              <a:rPr lang="hu-HU" sz="4000" dirty="0"/>
              <a:t>A vállalatnak, mint </a:t>
            </a:r>
            <a:r>
              <a:rPr lang="hu-HU" sz="4000" b="1" dirty="0"/>
              <a:t>szervezetnek a céljai a küldetéséből és a belső érintettek céljaiból alakul ki</a:t>
            </a:r>
            <a:r>
              <a:rPr lang="hu-HU" sz="4000" dirty="0"/>
              <a:t>.</a:t>
            </a:r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3570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 fontScale="77500" lnSpcReduction="20000"/>
          </a:bodyPr>
          <a:lstStyle/>
          <a:p>
            <a:r>
              <a:rPr lang="hu-HU" sz="3200" b="1" u="sng" dirty="0"/>
              <a:t>Szervezeti célok:</a:t>
            </a:r>
          </a:p>
          <a:p>
            <a:pPr lvl="1"/>
            <a:r>
              <a:rPr lang="hu-HU" sz="3100" dirty="0"/>
              <a:t>A szervezetnek vannak saját céljai, amelyek nem azonosak a szervezetet alkotó egyének céljaival, de nem is független tőlük.</a:t>
            </a:r>
          </a:p>
          <a:p>
            <a:pPr lvl="1"/>
            <a:r>
              <a:rPr lang="hu-HU" sz="3100" dirty="0"/>
              <a:t>Szervezeti célok jellemzői:</a:t>
            </a:r>
          </a:p>
          <a:p>
            <a:pPr lvl="2"/>
            <a:r>
              <a:rPr lang="hu-HU" sz="3100" b="1" dirty="0"/>
              <a:t>Hierarchikusan strukturáltak</a:t>
            </a:r>
            <a:r>
              <a:rPr lang="hu-HU" sz="3100" dirty="0"/>
              <a:t>: logikai sorrendbe szervezi a tevékenységeket,</a:t>
            </a:r>
          </a:p>
          <a:p>
            <a:pPr lvl="2"/>
            <a:r>
              <a:rPr lang="hu-HU" sz="3100" b="1" dirty="0"/>
              <a:t>Kölcsönös erősítés</a:t>
            </a:r>
            <a:r>
              <a:rPr lang="hu-HU" sz="3100" dirty="0"/>
              <a:t>: szervezet és tagjai kölcsönösen erősítik egymást a célok elérésében,</a:t>
            </a:r>
          </a:p>
          <a:p>
            <a:pPr lvl="2"/>
            <a:r>
              <a:rPr lang="hu-HU" sz="3100" b="1" dirty="0"/>
              <a:t>Kompatibilitás</a:t>
            </a:r>
            <a:r>
              <a:rPr lang="hu-HU" sz="3100" dirty="0"/>
              <a:t>: azaz az egyéni célok összeegyeztethetők a szervezet céljaival,</a:t>
            </a:r>
          </a:p>
          <a:p>
            <a:pPr lvl="2"/>
            <a:r>
              <a:rPr lang="hu-HU" sz="3100" b="1" dirty="0" err="1"/>
              <a:t>Szuperordinált</a:t>
            </a:r>
            <a:r>
              <a:rPr lang="hu-HU" sz="3100" b="1" dirty="0"/>
              <a:t> célok megléte</a:t>
            </a:r>
            <a:r>
              <a:rPr lang="hu-HU" sz="3100" dirty="0"/>
              <a:t>: azért jön létre a szervezet, mert képes olyan dolgokat megvalósítani, amit az egyének önmagukban, egyedül nem tudnak megtenni. </a:t>
            </a:r>
            <a:r>
              <a:rPr lang="hu-HU" sz="3100" b="1" dirty="0" err="1"/>
              <a:t>Szuperordinált</a:t>
            </a:r>
            <a:r>
              <a:rPr lang="hu-HU" sz="3100" b="1" dirty="0"/>
              <a:t> cél: olyan cél, amely az eltérő személyes célokkal rendelkező egyének együttműködésre készteti.</a:t>
            </a:r>
            <a:endParaRPr lang="hu-HU" sz="3100" dirty="0"/>
          </a:p>
        </p:txBody>
      </p:sp>
    </p:spTree>
    <p:extLst>
      <p:ext uri="{BB962C8B-B14F-4D97-AF65-F5344CB8AC3E}">
        <p14:creationId xmlns:p14="http://schemas.microsoft.com/office/powerpoint/2010/main" val="317852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57300"/>
            <a:ext cx="10178322" cy="5029199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Szervezeti célok hierarchiája:</a:t>
            </a:r>
          </a:p>
          <a:p>
            <a:endParaRPr lang="hu-HU" sz="3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B3C2DD-F84E-40AD-871A-EA446DF7E1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814736"/>
              </p:ext>
            </p:extLst>
          </p:nvPr>
        </p:nvGraphicFramePr>
        <p:xfrm>
          <a:off x="1251679" y="1790700"/>
          <a:ext cx="10178322" cy="4347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42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Egyéni célok:</a:t>
            </a:r>
          </a:p>
          <a:p>
            <a:pPr lvl="1"/>
            <a:r>
              <a:rPr lang="hu-HU" sz="3000" dirty="0"/>
              <a:t>Az ember állandó szükségállapotban lévő lény, jellemzően egyre többet és jobbat akar.</a:t>
            </a:r>
          </a:p>
          <a:p>
            <a:pPr lvl="1"/>
            <a:r>
              <a:rPr lang="hu-HU" sz="3000" dirty="0"/>
              <a:t>Szükségleteit az határozza meg, hogy mivel rendelkezik és milyen tudati állapotban van.</a:t>
            </a:r>
          </a:p>
          <a:p>
            <a:pPr lvl="1"/>
            <a:r>
              <a:rPr lang="hu-HU" sz="3000" dirty="0"/>
              <a:t>A szükségletek jellemzően hierarchikus sorrendben szokták bemutatni (</a:t>
            </a:r>
            <a:r>
              <a:rPr lang="hu-HU" sz="3000" dirty="0" err="1"/>
              <a:t>Maslow</a:t>
            </a:r>
            <a:r>
              <a:rPr lang="hu-HU" sz="3000" dirty="0"/>
              <a:t> szükségletek hierarchiája modell). Ha egy alacsonyabb szintű szükségletet elfogadható mértékben kielégítenek belép a következő szinten lévő szükséglet.</a:t>
            </a:r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428262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Egyéni célok: </a:t>
            </a:r>
          </a:p>
          <a:p>
            <a:endParaRPr lang="hu-HU" sz="3200" dirty="0"/>
          </a:p>
          <a:p>
            <a:endParaRPr lang="hu-HU" sz="3200" dirty="0"/>
          </a:p>
          <a:p>
            <a:endParaRPr lang="hu-HU" sz="3200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ED3B515-BC75-4C90-B923-50412E35E3B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678" y="1948721"/>
            <a:ext cx="6423286" cy="463305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FF05BCBD-D000-4E63-9A5B-512CA9BA1033}"/>
              </a:ext>
            </a:extLst>
          </p:cNvPr>
          <p:cNvSpPr txBox="1"/>
          <p:nvPr/>
        </p:nvSpPr>
        <p:spPr>
          <a:xfrm>
            <a:off x="7897942" y="2338466"/>
            <a:ext cx="353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800" dirty="0"/>
              <a:t>forrás: https://uni-eszterhazy.hu/hefoppalyazat/pszielmal/maslow_motivcis_piramisa.html</a:t>
            </a:r>
          </a:p>
        </p:txBody>
      </p:sp>
    </p:spTree>
    <p:extLst>
      <p:ext uri="{BB962C8B-B14F-4D97-AF65-F5344CB8AC3E}">
        <p14:creationId xmlns:p14="http://schemas.microsoft.com/office/powerpoint/2010/main" val="2260997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Egyéni célok:</a:t>
            </a:r>
          </a:p>
          <a:p>
            <a:pPr lvl="1"/>
            <a:r>
              <a:rPr lang="hu-HU" sz="3000" dirty="0"/>
              <a:t>Egy emberi cselekedet ritkán vezethető vissza egy szükségletre – jellemzően a szükségletek együttesen jelen vannak a cselekedeteinkben.</a:t>
            </a:r>
          </a:p>
          <a:p>
            <a:pPr lvl="1"/>
            <a:r>
              <a:rPr lang="hu-HU" sz="3000" dirty="0"/>
              <a:t>Jellemző, hogy egy bizonyos szükséglet nem azonos cselekedeteket vált ki különböző emberekből.</a:t>
            </a:r>
          </a:p>
          <a:p>
            <a:pPr lvl="1"/>
            <a:r>
              <a:rPr lang="hu-HU" sz="3000" dirty="0"/>
              <a:t>Általában az ember pótcélokat állít be, ha egy szükségletének kielégítése akadályokba ütközik.</a:t>
            </a:r>
          </a:p>
        </p:txBody>
      </p:sp>
    </p:spTree>
    <p:extLst>
      <p:ext uri="{BB962C8B-B14F-4D97-AF65-F5344CB8AC3E}">
        <p14:creationId xmlns:p14="http://schemas.microsoft.com/office/powerpoint/2010/main" val="918607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Egyéni célok:</a:t>
            </a:r>
          </a:p>
          <a:p>
            <a:pPr lvl="1"/>
            <a:r>
              <a:rPr lang="hu-HU" sz="3000" dirty="0"/>
              <a:t>Szükségletek és célok viszonyára jellemző:</a:t>
            </a:r>
          </a:p>
          <a:p>
            <a:pPr lvl="2"/>
            <a:r>
              <a:rPr lang="hu-HU" sz="2800" dirty="0"/>
              <a:t>Szükséglet megelőzi a célt,</a:t>
            </a:r>
          </a:p>
          <a:p>
            <a:pPr lvl="2"/>
            <a:r>
              <a:rPr lang="hu-HU" sz="2800" dirty="0"/>
              <a:t>Az egyéni célok nem felelnek meg egyértelműen a szükségleteknek,</a:t>
            </a:r>
          </a:p>
          <a:p>
            <a:pPr lvl="2"/>
            <a:r>
              <a:rPr lang="hu-HU" sz="2800" dirty="0"/>
              <a:t>Az egyéni célok több összetevőtől függenek.</a:t>
            </a:r>
          </a:p>
        </p:txBody>
      </p:sp>
    </p:spTree>
    <p:extLst>
      <p:ext uri="{BB962C8B-B14F-4D97-AF65-F5344CB8AC3E}">
        <p14:creationId xmlns:p14="http://schemas.microsoft.com/office/powerpoint/2010/main" val="667789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 fontScale="92500" lnSpcReduction="10000"/>
          </a:bodyPr>
          <a:lstStyle/>
          <a:p>
            <a:r>
              <a:rPr lang="hu-HU" sz="3200" b="1" u="sng" dirty="0"/>
              <a:t>A szervezti és egyéni célok kapcsolatának tulajdonságai</a:t>
            </a:r>
          </a:p>
          <a:p>
            <a:pPr lvl="1"/>
            <a:r>
              <a:rPr lang="hu-HU" sz="3000" dirty="0"/>
              <a:t>Az egyéni célok váltják ki a cselekvést.</a:t>
            </a:r>
          </a:p>
          <a:p>
            <a:pPr lvl="1"/>
            <a:r>
              <a:rPr lang="hu-HU" sz="3000" dirty="0"/>
              <a:t>Egy ember cselekvése, hat a másik emberre. Ezért a másik ember reagál (céljaihoz igazodva).  A kettőjük kölcsönhatása alkotja a szervezet produktív részét.</a:t>
            </a:r>
          </a:p>
          <a:p>
            <a:pPr lvl="1"/>
            <a:r>
              <a:rPr lang="hu-HU" sz="3000" b="1" dirty="0"/>
              <a:t>A szervezethez való csatlakozás indoka, hogy a csatlakozó azt gondolja, hogy az ő munkája támogatja a szervezetet a céljai elérésében, ezért cserébe a szervezet támogatja őt saját egyéni céljainak elérésében.</a:t>
            </a:r>
          </a:p>
          <a:p>
            <a:pPr lvl="1"/>
            <a:r>
              <a:rPr lang="hu-HU" sz="3000" dirty="0"/>
              <a:t>A szervezet hatékonyságát nagyban javítja, ha tagjainak egyéni céljai összeegyeztethetőek a szervezet céljaival.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35160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E8A3BA-2D80-4F79-BABB-3E9A5FCC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51090"/>
          </a:xfrm>
        </p:spPr>
        <p:txBody>
          <a:bodyPr>
            <a:normAutofit/>
          </a:bodyPr>
          <a:lstStyle/>
          <a:p>
            <a:r>
              <a:rPr lang="hu-HU" sz="4400" dirty="0"/>
              <a:t>Az üzleti vállalkozás alapvető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8B1514-0C39-4CD2-B89E-D2FB698D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257300"/>
            <a:ext cx="10820400" cy="5324475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A szervezti és egyéni célok:</a:t>
            </a:r>
          </a:p>
          <a:p>
            <a:pPr lvl="1"/>
            <a:r>
              <a:rPr lang="hu-HU" sz="2400" b="1" dirty="0"/>
              <a:t>Az egyéni és szervezeti célok gyakran kerülnek egymással konfliktusba. </a:t>
            </a:r>
          </a:p>
          <a:p>
            <a:pPr lvl="2"/>
            <a:r>
              <a:rPr lang="hu-HU" sz="2200" dirty="0"/>
              <a:t>Ha a </a:t>
            </a:r>
            <a:r>
              <a:rPr lang="hu-HU" sz="2200" b="1" dirty="0"/>
              <a:t>konfliktus feloldása kompromisszumos jellegű</a:t>
            </a:r>
            <a:r>
              <a:rPr lang="hu-HU" sz="2200" dirty="0"/>
              <a:t>, akkor együttesen halad a célok megvalósítása. </a:t>
            </a:r>
          </a:p>
          <a:p>
            <a:pPr lvl="2"/>
            <a:r>
              <a:rPr lang="hu-HU" sz="2200" dirty="0"/>
              <a:t>Tehát a </a:t>
            </a:r>
            <a:r>
              <a:rPr lang="hu-HU" sz="2200" b="1" dirty="0"/>
              <a:t>konfliktusokat nem elnyomni kell, hanem megfelelő belső mechanizmusokkal mozgásteret biztosítani</a:t>
            </a:r>
            <a:r>
              <a:rPr lang="hu-HU" sz="2200" dirty="0"/>
              <a:t>.</a:t>
            </a:r>
          </a:p>
          <a:p>
            <a:pPr lvl="1"/>
            <a:r>
              <a:rPr lang="hu-HU" sz="2400" b="1" dirty="0"/>
              <a:t>Konfliktust kiküszöbölni csak úgy lehet ha a szervezeti és egyéni célok tökéletesen egybe esnek.</a:t>
            </a:r>
          </a:p>
          <a:p>
            <a:pPr lvl="1"/>
            <a:r>
              <a:rPr lang="hu-HU" sz="2400" dirty="0"/>
              <a:t>Az </a:t>
            </a:r>
            <a:r>
              <a:rPr lang="hu-HU" sz="2400" b="1" dirty="0"/>
              <a:t>egyéni és szervezeti célok összekapcsolása </a:t>
            </a:r>
            <a:r>
              <a:rPr lang="hu-HU" sz="2400" dirty="0"/>
              <a:t>a mindenkori </a:t>
            </a:r>
            <a:r>
              <a:rPr lang="hu-HU" sz="2400" b="1" dirty="0"/>
              <a:t>vállalatvezetés</a:t>
            </a:r>
            <a:r>
              <a:rPr lang="hu-HU" sz="2400" dirty="0"/>
              <a:t> egyik legbonyolultabb </a:t>
            </a:r>
            <a:r>
              <a:rPr lang="hu-HU" sz="2400" b="1" dirty="0"/>
              <a:t>feladata</a:t>
            </a:r>
            <a:r>
              <a:rPr lang="hu-H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994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548B29-5CF4-443D-9A8F-CBFBE865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 érintettjei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17AF3A1-A1BB-4A20-9A6B-46E2B0CB4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1830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8140F1-1D3D-4690-AE68-E324E0B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5390"/>
          </a:xfrm>
        </p:spPr>
        <p:txBody>
          <a:bodyPr/>
          <a:lstStyle/>
          <a:p>
            <a:r>
              <a:rPr lang="hu-HU" dirty="0"/>
              <a:t>A vállalat érintettjei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E48B13-B41A-4D4B-BFDF-F5E65A962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47775"/>
            <a:ext cx="10178322" cy="5086350"/>
          </a:xfrm>
        </p:spPr>
        <p:txBody>
          <a:bodyPr/>
          <a:lstStyle/>
          <a:p>
            <a:r>
              <a:rPr lang="hu-HU" sz="2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 </a:t>
            </a:r>
            <a:r>
              <a:rPr lang="hu-HU" sz="24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vállalati működés érintettjei </a:t>
            </a:r>
            <a:r>
              <a:rPr lang="hu-HU" sz="2400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Chikán</a:t>
            </a:r>
            <a:r>
              <a:rPr lang="hu-HU" sz="2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Attila (2009) definíciója szerint </a:t>
            </a:r>
            <a:r>
              <a:rPr lang="hu-HU" sz="2400" b="1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minden olyan személy, vagy csoport, aki/amely lényeges, tartós, kölcsönös kapcsolatban áll a vállalkozás működésével.</a:t>
            </a:r>
            <a:r>
              <a:rPr lang="hu-HU" sz="2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r>
              <a:rPr lang="hu-HU" sz="2400" dirty="0">
                <a:solidFill>
                  <a:srgbClr val="222222"/>
                </a:solidFill>
                <a:latin typeface="Verdana" panose="020B0604030504040204" pitchFamily="34" charset="0"/>
              </a:rPr>
              <a:t>Az érintetteket alapvetően 2 nagy csoportra oszthatjuk:</a:t>
            </a:r>
          </a:p>
          <a:p>
            <a:endParaRPr lang="hu-HU" dirty="0"/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D7DAA182-1AC5-474D-8811-A137371C2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10414"/>
              </p:ext>
            </p:extLst>
          </p:nvPr>
        </p:nvGraphicFramePr>
        <p:xfrm>
          <a:off x="1508124" y="3428999"/>
          <a:ext cx="9921876" cy="327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0938">
                  <a:extLst>
                    <a:ext uri="{9D8B030D-6E8A-4147-A177-3AD203B41FA5}">
                      <a16:colId xmlns:a16="http://schemas.microsoft.com/office/drawing/2014/main" val="2959806022"/>
                    </a:ext>
                  </a:extLst>
                </a:gridCol>
                <a:gridCol w="4960938">
                  <a:extLst>
                    <a:ext uri="{9D8B030D-6E8A-4147-A177-3AD203B41FA5}">
                      <a16:colId xmlns:a16="http://schemas.microsoft.com/office/drawing/2014/main" val="2392641092"/>
                    </a:ext>
                  </a:extLst>
                </a:gridCol>
              </a:tblGrid>
              <a:tr h="624005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tx1"/>
                          </a:solidFill>
                        </a:rPr>
                        <a:t>Belső érintettek: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tx1"/>
                          </a:solidFill>
                        </a:rPr>
                        <a:t>Külső érintettek: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218125"/>
                  </a:ext>
                </a:extLst>
              </a:tr>
              <a:tr h="242261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Tulajdonosok,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Menedzserek, vezetők,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Munkavállalók.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Fogyasztók – vevők,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Szállítók,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Versenytársak,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Stratégiai partnerek,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Állami intézmények,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Állampolgári szerveződések,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2400" dirty="0"/>
                        <a:t>Természeti környezet.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85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47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C04E6B-55A1-497A-98CA-D19E0588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</a:t>
            </a:r>
            <a:r>
              <a:rPr lang="hu-HU"/>
              <a:t>a figyelmet</a:t>
            </a:r>
            <a:r>
              <a:rPr lang="hu-HU" dirty="0"/>
              <a:t>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D07FC1-6DA7-441F-BB0D-3B1BBB93B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6220589"/>
      </p:ext>
    </p:extLst>
  </p:cSld>
  <p:clrMapOvr>
    <a:masterClrMapping/>
  </p:clrMapOvr>
</p:sld>
</file>

<file path=ppt/theme/theme1.xml><?xml version="1.0" encoding="utf-8"?>
<a:theme xmlns:a="http://schemas.openxmlformats.org/drawingml/2006/main" name="Jelvény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Jelvény</Template>
  <TotalTime>413</TotalTime>
  <Words>918</Words>
  <Application>Microsoft Office PowerPoint</Application>
  <PresentationFormat>Szélesvásznú</PresentationFormat>
  <Paragraphs>91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Arial</vt:lpstr>
      <vt:lpstr>Gill Sans MT</vt:lpstr>
      <vt:lpstr>Impact</vt:lpstr>
      <vt:lpstr>Verdana</vt:lpstr>
      <vt:lpstr>Jelvény</vt:lpstr>
      <vt:lpstr>Vállalat és vállalkozás</vt:lpstr>
      <vt:lpstr>Szervezet és üzleti vállalkozás</vt:lpstr>
      <vt:lpstr>Szervezet meghatározása</vt:lpstr>
      <vt:lpstr>Üzleti vállalkozás</vt:lpstr>
      <vt:lpstr>Üzleti vállalkozás</vt:lpstr>
      <vt:lpstr>Üzleti vállalkozás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Az üzleti vállalkozás alapvető célja</vt:lpstr>
      <vt:lpstr>A vállalat érintettjei</vt:lpstr>
      <vt:lpstr>A vállalat érintettjei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Vállalat és vállalkozás</dc:title>
  <dc:creator>Dell</dc:creator>
  <cp:lastModifiedBy>Trenka Zoltán</cp:lastModifiedBy>
  <cp:revision>51</cp:revision>
  <dcterms:created xsi:type="dcterms:W3CDTF">2020-09-10T07:52:59Z</dcterms:created>
  <dcterms:modified xsi:type="dcterms:W3CDTF">2026-02-16T08:35:04Z</dcterms:modified>
</cp:coreProperties>
</file>