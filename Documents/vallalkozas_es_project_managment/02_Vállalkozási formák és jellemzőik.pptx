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8" r:id="rId3"/>
    <p:sldId id="269" r:id="rId4"/>
    <p:sldId id="27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1" r:id="rId16"/>
    <p:sldId id="267" r:id="rId17"/>
    <p:sldId id="27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138678-04DC-465F-9A1D-CB467FCCF25A}" type="doc">
      <dgm:prSet loTypeId="urn:microsoft.com/office/officeart/2005/8/layout/arrow5" loCatId="relationship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93E1A788-9801-40C7-9064-F25CE6835FAF}">
      <dgm:prSet phldrT="[Szöveg]"/>
      <dgm:spPr/>
      <dgm:t>
        <a:bodyPr/>
        <a:lstStyle/>
        <a:p>
          <a:r>
            <a:rPr lang="hu-HU" dirty="0"/>
            <a:t>Egyéni vállalkozás</a:t>
          </a:r>
        </a:p>
      </dgm:t>
    </dgm:pt>
    <dgm:pt modelId="{5711EAE8-BF1A-47D9-B4B6-ABF37854D11F}" type="parTrans" cxnId="{05E3C51A-856A-4C9C-8BEA-EFF3C409460E}">
      <dgm:prSet/>
      <dgm:spPr/>
      <dgm:t>
        <a:bodyPr/>
        <a:lstStyle/>
        <a:p>
          <a:endParaRPr lang="hu-HU"/>
        </a:p>
      </dgm:t>
    </dgm:pt>
    <dgm:pt modelId="{454AF157-6AFB-4224-B6A4-1711BB180663}" type="sibTrans" cxnId="{05E3C51A-856A-4C9C-8BEA-EFF3C409460E}">
      <dgm:prSet/>
      <dgm:spPr/>
      <dgm:t>
        <a:bodyPr/>
        <a:lstStyle/>
        <a:p>
          <a:endParaRPr lang="hu-HU"/>
        </a:p>
      </dgm:t>
    </dgm:pt>
    <dgm:pt modelId="{2BE9652E-C5E3-4A4F-8EBB-E51ED49C711D}">
      <dgm:prSet phldrT="[Szöveg]"/>
      <dgm:spPr/>
      <dgm:t>
        <a:bodyPr/>
        <a:lstStyle/>
        <a:p>
          <a:r>
            <a:rPr lang="hu-HU" dirty="0"/>
            <a:t>Gazdasági társaság</a:t>
          </a:r>
        </a:p>
      </dgm:t>
    </dgm:pt>
    <dgm:pt modelId="{D5EDCBF4-00F9-4E98-86D7-00D97F99FED2}" type="parTrans" cxnId="{6B6EE7E6-FCE8-4020-B25A-D85E9E68380D}">
      <dgm:prSet/>
      <dgm:spPr/>
      <dgm:t>
        <a:bodyPr/>
        <a:lstStyle/>
        <a:p>
          <a:endParaRPr lang="hu-HU"/>
        </a:p>
      </dgm:t>
    </dgm:pt>
    <dgm:pt modelId="{48163993-BDA0-4D01-AF31-70B870945CF9}" type="sibTrans" cxnId="{6B6EE7E6-FCE8-4020-B25A-D85E9E68380D}">
      <dgm:prSet/>
      <dgm:spPr/>
      <dgm:t>
        <a:bodyPr/>
        <a:lstStyle/>
        <a:p>
          <a:endParaRPr lang="hu-HU"/>
        </a:p>
      </dgm:t>
    </dgm:pt>
    <dgm:pt modelId="{821E61E4-9E19-4A02-B71A-653978A6AD2A}" type="pres">
      <dgm:prSet presAssocID="{D7138678-04DC-465F-9A1D-CB467FCCF25A}" presName="diagram" presStyleCnt="0">
        <dgm:presLayoutVars>
          <dgm:dir/>
          <dgm:resizeHandles val="exact"/>
        </dgm:presLayoutVars>
      </dgm:prSet>
      <dgm:spPr/>
    </dgm:pt>
    <dgm:pt modelId="{4E96EFAE-6FA4-42D1-B399-EA32F7B212A2}" type="pres">
      <dgm:prSet presAssocID="{93E1A788-9801-40C7-9064-F25CE6835FAF}" presName="arrow" presStyleLbl="node1" presStyleIdx="0" presStyleCnt="2" custScaleY="100066">
        <dgm:presLayoutVars>
          <dgm:bulletEnabled val="1"/>
        </dgm:presLayoutVars>
      </dgm:prSet>
      <dgm:spPr/>
    </dgm:pt>
    <dgm:pt modelId="{297E91DC-1A86-4103-957D-FE3377B60D3B}" type="pres">
      <dgm:prSet presAssocID="{2BE9652E-C5E3-4A4F-8EBB-E51ED49C711D}" presName="arrow" presStyleLbl="node1" presStyleIdx="1" presStyleCnt="2" custScaleY="100066">
        <dgm:presLayoutVars>
          <dgm:bulletEnabled val="1"/>
        </dgm:presLayoutVars>
      </dgm:prSet>
      <dgm:spPr/>
    </dgm:pt>
  </dgm:ptLst>
  <dgm:cxnLst>
    <dgm:cxn modelId="{05E3C51A-856A-4C9C-8BEA-EFF3C409460E}" srcId="{D7138678-04DC-465F-9A1D-CB467FCCF25A}" destId="{93E1A788-9801-40C7-9064-F25CE6835FAF}" srcOrd="0" destOrd="0" parTransId="{5711EAE8-BF1A-47D9-B4B6-ABF37854D11F}" sibTransId="{454AF157-6AFB-4224-B6A4-1711BB180663}"/>
    <dgm:cxn modelId="{4CEE9F73-4D2C-4B0D-973D-37C42C5D9679}" type="presOf" srcId="{93E1A788-9801-40C7-9064-F25CE6835FAF}" destId="{4E96EFAE-6FA4-42D1-B399-EA32F7B212A2}" srcOrd="0" destOrd="0" presId="urn:microsoft.com/office/officeart/2005/8/layout/arrow5"/>
    <dgm:cxn modelId="{EE0DCE9D-EF94-49D3-B7E4-3A3D9B6CBCCB}" type="presOf" srcId="{2BE9652E-C5E3-4A4F-8EBB-E51ED49C711D}" destId="{297E91DC-1A86-4103-957D-FE3377B60D3B}" srcOrd="0" destOrd="0" presId="urn:microsoft.com/office/officeart/2005/8/layout/arrow5"/>
    <dgm:cxn modelId="{78316ECB-EE1F-4274-80AF-A3D2F5CA3EDC}" type="presOf" srcId="{D7138678-04DC-465F-9A1D-CB467FCCF25A}" destId="{821E61E4-9E19-4A02-B71A-653978A6AD2A}" srcOrd="0" destOrd="0" presId="urn:microsoft.com/office/officeart/2005/8/layout/arrow5"/>
    <dgm:cxn modelId="{6B6EE7E6-FCE8-4020-B25A-D85E9E68380D}" srcId="{D7138678-04DC-465F-9A1D-CB467FCCF25A}" destId="{2BE9652E-C5E3-4A4F-8EBB-E51ED49C711D}" srcOrd="1" destOrd="0" parTransId="{D5EDCBF4-00F9-4E98-86D7-00D97F99FED2}" sibTransId="{48163993-BDA0-4D01-AF31-70B870945CF9}"/>
    <dgm:cxn modelId="{A8050C10-7F00-4493-9309-CB098A80B995}" type="presParOf" srcId="{821E61E4-9E19-4A02-B71A-653978A6AD2A}" destId="{4E96EFAE-6FA4-42D1-B399-EA32F7B212A2}" srcOrd="0" destOrd="0" presId="urn:microsoft.com/office/officeart/2005/8/layout/arrow5"/>
    <dgm:cxn modelId="{788BA409-646F-458D-8C56-506530D2DCB2}" type="presParOf" srcId="{821E61E4-9E19-4A02-B71A-653978A6AD2A}" destId="{297E91DC-1A86-4103-957D-FE3377B60D3B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67F616-FC08-48CC-8DA2-6A1B75200C6F}" type="doc">
      <dgm:prSet loTypeId="urn:microsoft.com/office/officeart/2005/8/layout/arrow6" loCatId="relationship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4FF603B8-6792-41A5-9F50-6636C1D93E25}">
      <dgm:prSet phldrT="[Szöveg]"/>
      <dgm:spPr/>
      <dgm:t>
        <a:bodyPr/>
        <a:lstStyle/>
        <a:p>
          <a:r>
            <a:rPr lang="hu-HU" u="sng" dirty="0"/>
            <a:t>Előnyei:</a:t>
          </a:r>
        </a:p>
        <a:p>
          <a:r>
            <a:rPr lang="hu-HU" dirty="0"/>
            <a:t>Egyszerű, pénzügyileg független, önálló felelősség, gyorsan indítható.</a:t>
          </a:r>
        </a:p>
      </dgm:t>
    </dgm:pt>
    <dgm:pt modelId="{8F98AAE3-AD60-41F7-AD68-117BB5A4EB7C}" type="parTrans" cxnId="{F7621979-8F5F-4DAF-A5A5-4FAAA383068D}">
      <dgm:prSet/>
      <dgm:spPr/>
      <dgm:t>
        <a:bodyPr/>
        <a:lstStyle/>
        <a:p>
          <a:endParaRPr lang="hu-HU"/>
        </a:p>
      </dgm:t>
    </dgm:pt>
    <dgm:pt modelId="{A513E3DF-5D29-46ED-B2F5-215D985DE2CA}" type="sibTrans" cxnId="{F7621979-8F5F-4DAF-A5A5-4FAAA383068D}">
      <dgm:prSet/>
      <dgm:spPr/>
      <dgm:t>
        <a:bodyPr/>
        <a:lstStyle/>
        <a:p>
          <a:endParaRPr lang="hu-HU"/>
        </a:p>
      </dgm:t>
    </dgm:pt>
    <dgm:pt modelId="{33E9BB2E-91AF-489A-AF09-22DFEEB66C53}">
      <dgm:prSet phldrT="[Szöveg]"/>
      <dgm:spPr/>
      <dgm:t>
        <a:bodyPr/>
        <a:lstStyle/>
        <a:p>
          <a:r>
            <a:rPr lang="hu-HU" u="sng" dirty="0"/>
            <a:t>Hátrányai:</a:t>
          </a:r>
        </a:p>
        <a:p>
          <a:r>
            <a:rPr lang="hu-HU" b="0" i="0" dirty="0"/>
            <a:t>korlátlanul felel a teljes magánvagyonával,  kötöttségek a finanszírozásban, bizonyos tevékenységek végzéséhez szakképesítés szükséges.</a:t>
          </a:r>
          <a:endParaRPr lang="hu-HU" dirty="0"/>
        </a:p>
      </dgm:t>
    </dgm:pt>
    <dgm:pt modelId="{9FF6F837-13F8-4662-A9E6-EDE8D063060F}" type="parTrans" cxnId="{FE1302A8-AEED-4996-8046-B3CF9066451D}">
      <dgm:prSet/>
      <dgm:spPr/>
      <dgm:t>
        <a:bodyPr/>
        <a:lstStyle/>
        <a:p>
          <a:endParaRPr lang="hu-HU"/>
        </a:p>
      </dgm:t>
    </dgm:pt>
    <dgm:pt modelId="{D5DB5935-54EB-4041-8B54-5BBC7BA6517F}" type="sibTrans" cxnId="{FE1302A8-AEED-4996-8046-B3CF9066451D}">
      <dgm:prSet/>
      <dgm:spPr/>
      <dgm:t>
        <a:bodyPr/>
        <a:lstStyle/>
        <a:p>
          <a:endParaRPr lang="hu-HU"/>
        </a:p>
      </dgm:t>
    </dgm:pt>
    <dgm:pt modelId="{2DB7AB1B-37E6-4FCC-BF3B-77A6F91BB622}" type="pres">
      <dgm:prSet presAssocID="{8867F616-FC08-48CC-8DA2-6A1B75200C6F}" presName="compositeShape" presStyleCnt="0">
        <dgm:presLayoutVars>
          <dgm:chMax val="2"/>
          <dgm:dir/>
          <dgm:resizeHandles val="exact"/>
        </dgm:presLayoutVars>
      </dgm:prSet>
      <dgm:spPr/>
    </dgm:pt>
    <dgm:pt modelId="{8EB87395-F27B-4BBA-AB4D-BDE409AAF58B}" type="pres">
      <dgm:prSet presAssocID="{8867F616-FC08-48CC-8DA2-6A1B75200C6F}" presName="ribbon" presStyleLbl="node1" presStyleIdx="0" presStyleCnt="1" custScaleY="102990" custLinFactNeighborX="-10899" custLinFactNeighborY="11290"/>
      <dgm:spPr/>
    </dgm:pt>
    <dgm:pt modelId="{C5F4A39A-CB94-459F-81B1-282058B41806}" type="pres">
      <dgm:prSet presAssocID="{8867F616-FC08-48CC-8DA2-6A1B75200C6F}" presName="leftArrowText" presStyleLbl="node1" presStyleIdx="0" presStyleCnt="1" custLinFactNeighborX="-355" custLinFactNeighborY="16327">
        <dgm:presLayoutVars>
          <dgm:chMax val="0"/>
          <dgm:bulletEnabled val="1"/>
        </dgm:presLayoutVars>
      </dgm:prSet>
      <dgm:spPr/>
    </dgm:pt>
    <dgm:pt modelId="{DB90E924-F4EB-49F4-92F0-9C0590CDD66D}" type="pres">
      <dgm:prSet presAssocID="{8867F616-FC08-48CC-8DA2-6A1B75200C6F}" presName="rightArrowText" presStyleLbl="node1" presStyleIdx="0" presStyleCnt="1" custScaleY="100406" custLinFactNeighborX="-515" custLinFactNeighborY="24103">
        <dgm:presLayoutVars>
          <dgm:chMax val="0"/>
          <dgm:bulletEnabled val="1"/>
        </dgm:presLayoutVars>
      </dgm:prSet>
      <dgm:spPr/>
    </dgm:pt>
  </dgm:ptLst>
  <dgm:cxnLst>
    <dgm:cxn modelId="{0FBB4C02-1E9B-4393-8559-44805FC9A478}" type="presOf" srcId="{4FF603B8-6792-41A5-9F50-6636C1D93E25}" destId="{C5F4A39A-CB94-459F-81B1-282058B41806}" srcOrd="0" destOrd="0" presId="urn:microsoft.com/office/officeart/2005/8/layout/arrow6"/>
    <dgm:cxn modelId="{94A62458-27E0-44D2-A404-4DC6B897A5F4}" type="presOf" srcId="{33E9BB2E-91AF-489A-AF09-22DFEEB66C53}" destId="{DB90E924-F4EB-49F4-92F0-9C0590CDD66D}" srcOrd="0" destOrd="0" presId="urn:microsoft.com/office/officeart/2005/8/layout/arrow6"/>
    <dgm:cxn modelId="{F7621979-8F5F-4DAF-A5A5-4FAAA383068D}" srcId="{8867F616-FC08-48CC-8DA2-6A1B75200C6F}" destId="{4FF603B8-6792-41A5-9F50-6636C1D93E25}" srcOrd="0" destOrd="0" parTransId="{8F98AAE3-AD60-41F7-AD68-117BB5A4EB7C}" sibTransId="{A513E3DF-5D29-46ED-B2F5-215D985DE2CA}"/>
    <dgm:cxn modelId="{90CD999D-F030-4ECD-B3B9-4F578665A8B2}" type="presOf" srcId="{8867F616-FC08-48CC-8DA2-6A1B75200C6F}" destId="{2DB7AB1B-37E6-4FCC-BF3B-77A6F91BB622}" srcOrd="0" destOrd="0" presId="urn:microsoft.com/office/officeart/2005/8/layout/arrow6"/>
    <dgm:cxn modelId="{FE1302A8-AEED-4996-8046-B3CF9066451D}" srcId="{8867F616-FC08-48CC-8DA2-6A1B75200C6F}" destId="{33E9BB2E-91AF-489A-AF09-22DFEEB66C53}" srcOrd="1" destOrd="0" parTransId="{9FF6F837-13F8-4662-A9E6-EDE8D063060F}" sibTransId="{D5DB5935-54EB-4041-8B54-5BBC7BA6517F}"/>
    <dgm:cxn modelId="{213DAFF3-9358-472B-9F2A-80D109E5C574}" type="presParOf" srcId="{2DB7AB1B-37E6-4FCC-BF3B-77A6F91BB622}" destId="{8EB87395-F27B-4BBA-AB4D-BDE409AAF58B}" srcOrd="0" destOrd="0" presId="urn:microsoft.com/office/officeart/2005/8/layout/arrow6"/>
    <dgm:cxn modelId="{119A65A1-39B2-446D-9C32-042853CC1D5D}" type="presParOf" srcId="{2DB7AB1B-37E6-4FCC-BF3B-77A6F91BB622}" destId="{C5F4A39A-CB94-459F-81B1-282058B41806}" srcOrd="1" destOrd="0" presId="urn:microsoft.com/office/officeart/2005/8/layout/arrow6"/>
    <dgm:cxn modelId="{F47730F1-29B2-4AAD-B3BE-D5EC8F188004}" type="presParOf" srcId="{2DB7AB1B-37E6-4FCC-BF3B-77A6F91BB622}" destId="{DB90E924-F4EB-49F4-92F0-9C0590CDD66D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96EFAE-6FA4-42D1-B399-EA32F7B212A2}">
      <dsp:nvSpPr>
        <dsp:cNvPr id="0" name=""/>
        <dsp:cNvSpPr/>
      </dsp:nvSpPr>
      <dsp:spPr>
        <a:xfrm rot="16200000">
          <a:off x="339" y="343293"/>
          <a:ext cx="2623206" cy="2624938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kern="1200" dirty="0"/>
            <a:t>Egyéni vállalkozás</a:t>
          </a:r>
        </a:p>
      </dsp:txBody>
      <dsp:txXfrm rot="5400000">
        <a:off x="-527" y="999960"/>
        <a:ext cx="2165877" cy="1311603"/>
      </dsp:txXfrm>
    </dsp:sp>
    <dsp:sp modelId="{297E91DC-1A86-4103-957D-FE3377B60D3B}">
      <dsp:nvSpPr>
        <dsp:cNvPr id="0" name=""/>
        <dsp:cNvSpPr/>
      </dsp:nvSpPr>
      <dsp:spPr>
        <a:xfrm rot="5400000">
          <a:off x="2786653" y="343293"/>
          <a:ext cx="2623206" cy="2624938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kern="1200" dirty="0"/>
            <a:t>Gazdasági társaság</a:t>
          </a:r>
        </a:p>
      </dsp:txBody>
      <dsp:txXfrm rot="-5400000">
        <a:off x="3244848" y="999961"/>
        <a:ext cx="2165877" cy="13116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B87395-F27B-4BBA-AB4D-BDE409AAF58B}">
      <dsp:nvSpPr>
        <dsp:cNvPr id="0" name=""/>
        <dsp:cNvSpPr/>
      </dsp:nvSpPr>
      <dsp:spPr>
        <a:xfrm>
          <a:off x="0" y="661271"/>
          <a:ext cx="10394706" cy="4282203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5F4A39A-CB94-459F-81B1-282058B41806}">
      <dsp:nvSpPr>
        <dsp:cNvPr id="0" name=""/>
        <dsp:cNvSpPr/>
      </dsp:nvSpPr>
      <dsp:spPr>
        <a:xfrm>
          <a:off x="1235187" y="1453065"/>
          <a:ext cx="3430252" cy="2037362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74676" rIns="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u="sng" kern="1200" dirty="0"/>
            <a:t>Előnyei: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 dirty="0"/>
            <a:t>Egyszerű, pénzügyileg független, önálló felelősség, gyorsan indítható.</a:t>
          </a:r>
        </a:p>
      </dsp:txBody>
      <dsp:txXfrm>
        <a:off x="1235187" y="1453065"/>
        <a:ext cx="3430252" cy="2037362"/>
      </dsp:txXfrm>
    </dsp:sp>
    <dsp:sp modelId="{DB90E924-F4EB-49F4-92F0-9C0590CDD66D}">
      <dsp:nvSpPr>
        <dsp:cNvPr id="0" name=""/>
        <dsp:cNvSpPr/>
      </dsp:nvSpPr>
      <dsp:spPr>
        <a:xfrm>
          <a:off x="5176475" y="2272616"/>
          <a:ext cx="4053935" cy="2045634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74676" rIns="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u="sng" kern="1200" dirty="0"/>
            <a:t>Hátrányai: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b="0" i="0" kern="1200" dirty="0"/>
            <a:t>korlátlanul felel a teljes magánvagyonával,  kötöttségek a finanszírozásban, bizonyos tevékenységek végzéséhez szakképesítés szükséges.</a:t>
          </a:r>
          <a:endParaRPr lang="hu-HU" sz="2100" kern="1200" dirty="0"/>
        </a:p>
      </dsp:txBody>
      <dsp:txXfrm>
        <a:off x="5176475" y="2272616"/>
        <a:ext cx="4053935" cy="20456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711617-CB21-4D05-89A4-E8E6B73AB1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Vállalkozási formák és jellemzőik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89C9C83-42F1-46CE-95F4-90D880B062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306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A73A4-7417-4DD4-9ACE-5AD86483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Vállalkozási formák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6B3400-68B3-47E1-AB0F-6895A7B8C3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647826"/>
            <a:ext cx="10394707" cy="3943350"/>
          </a:xfrm>
        </p:spPr>
        <p:txBody>
          <a:bodyPr>
            <a:normAutofit/>
          </a:bodyPr>
          <a:lstStyle/>
          <a:p>
            <a:r>
              <a:rPr lang="hu-HU" b="1" u="sng" dirty="0">
                <a:solidFill>
                  <a:srgbClr val="000000"/>
                </a:solidFill>
                <a:latin typeface="Raleway"/>
              </a:rPr>
              <a:t>Mi </a:t>
            </a:r>
            <a:r>
              <a:rPr lang="hu-HU" b="1" u="sng">
                <a:solidFill>
                  <a:srgbClr val="000000"/>
                </a:solidFill>
                <a:latin typeface="Raleway"/>
              </a:rPr>
              <a:t>kell egy </a:t>
            </a:r>
            <a:r>
              <a:rPr lang="hu-HU" b="1" u="sng" dirty="0">
                <a:solidFill>
                  <a:srgbClr val="000000"/>
                </a:solidFill>
                <a:latin typeface="Raleway"/>
              </a:rPr>
              <a:t>vállalkozáshoz:</a:t>
            </a:r>
          </a:p>
          <a:p>
            <a:pPr marL="228600" lvl="1">
              <a:spcBef>
                <a:spcPts val="1000"/>
              </a:spcBef>
            </a:pPr>
            <a:r>
              <a:rPr lang="hu-HU" sz="2000" dirty="0">
                <a:solidFill>
                  <a:srgbClr val="000000"/>
                </a:solidFill>
                <a:latin typeface="Raleway"/>
              </a:rPr>
              <a:t>üzleti lehetőség</a:t>
            </a:r>
          </a:p>
          <a:p>
            <a:pPr marL="228600" lvl="1">
              <a:spcBef>
                <a:spcPts val="1000"/>
              </a:spcBef>
            </a:pPr>
            <a:r>
              <a:rPr lang="hu-HU" sz="2000" dirty="0">
                <a:solidFill>
                  <a:srgbClr val="000000"/>
                </a:solidFill>
                <a:latin typeface="Raleway"/>
              </a:rPr>
              <a:t>Tőke (befektetés)</a:t>
            </a:r>
          </a:p>
          <a:p>
            <a:pPr marL="228600" lvl="1">
              <a:spcBef>
                <a:spcPts val="1000"/>
              </a:spcBef>
            </a:pPr>
            <a:r>
              <a:rPr lang="hu-HU" sz="2000" dirty="0">
                <a:solidFill>
                  <a:srgbClr val="000000"/>
                </a:solidFill>
                <a:latin typeface="Raleway"/>
              </a:rPr>
              <a:t>Vállalkozói készség - vállalkozó </a:t>
            </a:r>
          </a:p>
          <a:p>
            <a:pPr marL="228600" lvl="1">
              <a:spcBef>
                <a:spcPts val="1000"/>
              </a:spcBef>
            </a:pPr>
            <a:r>
              <a:rPr lang="hu-HU" sz="2000" dirty="0">
                <a:solidFill>
                  <a:srgbClr val="000000"/>
                </a:solidFill>
                <a:latin typeface="Raleway"/>
              </a:rPr>
              <a:t>Kockázatvállalás </a:t>
            </a:r>
          </a:p>
          <a:p>
            <a:pPr marL="228600" lvl="1">
              <a:spcBef>
                <a:spcPts val="1000"/>
              </a:spcBef>
            </a:pPr>
            <a:r>
              <a:rPr lang="hu-HU" sz="2000" dirty="0">
                <a:solidFill>
                  <a:srgbClr val="000000"/>
                </a:solidFill>
                <a:latin typeface="Raleway"/>
              </a:rPr>
              <a:t>Reális üzleti terv</a:t>
            </a:r>
          </a:p>
        </p:txBody>
      </p:sp>
    </p:spTree>
    <p:extLst>
      <p:ext uri="{BB962C8B-B14F-4D97-AF65-F5344CB8AC3E}">
        <p14:creationId xmlns:p14="http://schemas.microsoft.com/office/powerpoint/2010/main" val="1160116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A73A4-7417-4DD4-9ACE-5AD86483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09551"/>
            <a:ext cx="10396882" cy="1057274"/>
          </a:xfrm>
        </p:spPr>
        <p:txBody>
          <a:bodyPr/>
          <a:lstStyle/>
          <a:p>
            <a:r>
              <a:rPr lang="hu-HU" dirty="0"/>
              <a:t>Vállalkozási formák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6B3400-68B3-47E1-AB0F-6895A7B8C3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171575"/>
            <a:ext cx="10394707" cy="4419601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hu-HU" sz="2000" b="1" u="sng" dirty="0">
                <a:solidFill>
                  <a:srgbClr val="000000"/>
                </a:solidFill>
                <a:latin typeface="Raleway"/>
              </a:rPr>
              <a:t>A vállalkozások közös jellemzői: </a:t>
            </a:r>
          </a:p>
          <a:p>
            <a:pPr marL="228600" lvl="1">
              <a:spcBef>
                <a:spcPts val="1000"/>
              </a:spcBef>
            </a:pPr>
            <a:r>
              <a:rPr lang="hu-HU" sz="2000" b="1" dirty="0">
                <a:solidFill>
                  <a:srgbClr val="000000"/>
                </a:solidFill>
                <a:latin typeface="Raleway"/>
              </a:rPr>
              <a:t>önálló gazdálkodás</a:t>
            </a:r>
            <a:r>
              <a:rPr lang="hu-HU" sz="2000" dirty="0">
                <a:solidFill>
                  <a:srgbClr val="000000"/>
                </a:solidFill>
                <a:latin typeface="Raleway"/>
              </a:rPr>
              <a:t>: piac többi szereplőitől </a:t>
            </a:r>
            <a:r>
              <a:rPr lang="hu-HU" sz="2000" dirty="0" err="1">
                <a:solidFill>
                  <a:srgbClr val="000000"/>
                </a:solidFill>
                <a:latin typeface="Raleway"/>
              </a:rPr>
              <a:t>elkülönülten</a:t>
            </a:r>
            <a:r>
              <a:rPr lang="hu-HU" sz="2000" dirty="0">
                <a:solidFill>
                  <a:srgbClr val="000000"/>
                </a:solidFill>
                <a:latin typeface="Raleway"/>
              </a:rPr>
              <a:t> működik, saját döntéseket hoz, </a:t>
            </a:r>
          </a:p>
          <a:p>
            <a:pPr marL="228600" lvl="1">
              <a:spcBef>
                <a:spcPts val="1000"/>
              </a:spcBef>
            </a:pPr>
            <a:r>
              <a:rPr lang="hu-HU" sz="2000" b="1" dirty="0">
                <a:solidFill>
                  <a:srgbClr val="000000"/>
                </a:solidFill>
                <a:latin typeface="Raleway"/>
              </a:rPr>
              <a:t>Kockázatvállalás: </a:t>
            </a:r>
            <a:r>
              <a:rPr lang="hu-HU" sz="2000" dirty="0">
                <a:solidFill>
                  <a:srgbClr val="000000"/>
                </a:solidFill>
                <a:latin typeface="Raleway"/>
              </a:rPr>
              <a:t>a tevékenység során - körültekintően kell gazdálkodniuk, és figyelembe kell venniük, hogy minden döntésüknek kockázata van, ezért a döntések meghozatalakor a kockázatnak arányban kell állnia a vállalkozás tőkeerejével,</a:t>
            </a:r>
          </a:p>
          <a:p>
            <a:pPr marL="228600" lvl="1">
              <a:spcBef>
                <a:spcPts val="1000"/>
              </a:spcBef>
            </a:pPr>
            <a:r>
              <a:rPr lang="hu-HU" sz="2000" b="1" dirty="0">
                <a:solidFill>
                  <a:srgbClr val="000000"/>
                </a:solidFill>
                <a:latin typeface="Raleway"/>
              </a:rPr>
              <a:t>anyagilag érdekeltek: </a:t>
            </a:r>
            <a:r>
              <a:rPr lang="hu-HU" sz="2000" dirty="0">
                <a:solidFill>
                  <a:srgbClr val="000000"/>
                </a:solidFill>
                <a:latin typeface="Raleway"/>
              </a:rPr>
              <a:t>az eredményességben - célja a profitszerzés, nyereség elérése,</a:t>
            </a:r>
          </a:p>
          <a:p>
            <a:pPr marL="228600" lvl="1">
              <a:spcBef>
                <a:spcPts val="1000"/>
              </a:spcBef>
            </a:pPr>
            <a:r>
              <a:rPr lang="hu-HU" sz="2000" b="1" dirty="0">
                <a:solidFill>
                  <a:srgbClr val="000000"/>
                </a:solidFill>
                <a:latin typeface="Raleway"/>
              </a:rPr>
              <a:t>anyagi, jogi és erkölcsi felelősséggel tartoznak döntéseikért</a:t>
            </a:r>
            <a:r>
              <a:rPr lang="hu-HU" sz="2000" dirty="0">
                <a:solidFill>
                  <a:srgbClr val="000000"/>
                </a:solidFill>
                <a:latin typeface="Ralewa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9140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A73A4-7417-4DD4-9ACE-5AD86483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Vállalkozási formák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6B3400-68B3-47E1-AB0F-6895A7B8C3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647826"/>
            <a:ext cx="10394707" cy="3943350"/>
          </a:xfrm>
        </p:spPr>
        <p:txBody>
          <a:bodyPr>
            <a:normAutofit/>
          </a:bodyPr>
          <a:lstStyle/>
          <a:p>
            <a:r>
              <a:rPr lang="hu-HU" b="1" u="sng" dirty="0">
                <a:solidFill>
                  <a:srgbClr val="000000"/>
                </a:solidFill>
                <a:latin typeface="Raleway"/>
              </a:rPr>
              <a:t>anyagi felelősség: </a:t>
            </a:r>
            <a:r>
              <a:rPr lang="hu-HU" dirty="0">
                <a:solidFill>
                  <a:srgbClr val="000000"/>
                </a:solidFill>
                <a:latin typeface="Raleway"/>
              </a:rPr>
              <a:t>a vállalkozások tevékenységük anyagi következményeit vállalni kell, tehát a megrendelt áru ellenértékét, a munkabéreket, az adókat ki kell fizetnie. Tartozásaiért a vállalkozás teljes vagyonával felel. </a:t>
            </a:r>
          </a:p>
          <a:p>
            <a:r>
              <a:rPr lang="hu-HU" b="1" u="sng" dirty="0">
                <a:solidFill>
                  <a:srgbClr val="000000"/>
                </a:solidFill>
                <a:latin typeface="Raleway"/>
              </a:rPr>
              <a:t>jogi felelősség </a:t>
            </a:r>
            <a:r>
              <a:rPr lang="hu-HU" dirty="0">
                <a:solidFill>
                  <a:srgbClr val="000000"/>
                </a:solidFill>
                <a:latin typeface="Raleway"/>
              </a:rPr>
              <a:t>okozott károk megtérítése, felelős viselkedés és döntéshozatal, jogszabályok és korlátok betartása.</a:t>
            </a:r>
          </a:p>
          <a:p>
            <a:r>
              <a:rPr lang="hu-HU" b="1" u="sng" dirty="0">
                <a:solidFill>
                  <a:srgbClr val="000000"/>
                </a:solidFill>
                <a:latin typeface="Raleway"/>
              </a:rPr>
              <a:t>Erkölcsi felelősség: </a:t>
            </a:r>
            <a:r>
              <a:rPr lang="hu-HU" dirty="0">
                <a:solidFill>
                  <a:srgbClr val="000000"/>
                </a:solidFill>
                <a:latin typeface="Raleway"/>
              </a:rPr>
              <a:t>a vállalkozás úgy végezze a tevékenységét, hogy a társadalom elvárásainak, normáinak megfeleljen. </a:t>
            </a:r>
          </a:p>
        </p:txBody>
      </p:sp>
    </p:spTree>
    <p:extLst>
      <p:ext uri="{BB962C8B-B14F-4D97-AF65-F5344CB8AC3E}">
        <p14:creationId xmlns:p14="http://schemas.microsoft.com/office/powerpoint/2010/main" val="3989207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A73A4-7417-4DD4-9ACE-5AD86483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Vállalkozási formák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6B3400-68B3-47E1-AB0F-6895A7B8C3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647826"/>
            <a:ext cx="10394707" cy="3943350"/>
          </a:xfrm>
        </p:spPr>
        <p:txBody>
          <a:bodyPr>
            <a:normAutofit/>
          </a:bodyPr>
          <a:lstStyle/>
          <a:p>
            <a:r>
              <a:rPr lang="hu-HU" b="1" i="0" dirty="0">
                <a:solidFill>
                  <a:srgbClr val="000000"/>
                </a:solidFill>
                <a:effectLst/>
                <a:latin typeface="Raleway"/>
              </a:rPr>
              <a:t>A vállalkozási forma megválasztásakor több szempontot kell figyelembe venni és mérlegelni</a:t>
            </a:r>
            <a:r>
              <a:rPr lang="hu-HU" b="1" dirty="0">
                <a:solidFill>
                  <a:srgbClr val="000000"/>
                </a:solidFill>
                <a:latin typeface="Raleway"/>
              </a:rPr>
              <a:t>:</a:t>
            </a:r>
          </a:p>
          <a:p>
            <a:pPr lvl="1"/>
            <a:r>
              <a:rPr lang="hu-HU" b="1" i="0" dirty="0">
                <a:solidFill>
                  <a:srgbClr val="000000"/>
                </a:solidFill>
                <a:effectLst/>
                <a:latin typeface="Raleway"/>
              </a:rPr>
              <a:t>Rendelkezésre álló tőke </a:t>
            </a:r>
            <a:r>
              <a:rPr lang="hu-HU" b="1" dirty="0">
                <a:solidFill>
                  <a:srgbClr val="000000"/>
                </a:solidFill>
                <a:latin typeface="Raleway"/>
              </a:rPr>
              <a:t>mértéke és összetétele,</a:t>
            </a:r>
          </a:p>
          <a:p>
            <a:pPr lvl="1"/>
            <a:r>
              <a:rPr lang="hu-HU" b="1" i="0" dirty="0">
                <a:solidFill>
                  <a:srgbClr val="000000"/>
                </a:solidFill>
                <a:effectLst/>
                <a:latin typeface="Raleway"/>
              </a:rPr>
              <a:t>Vállalkozó személyiség jegyei (magányos farkas, vagy kompromisszum kereső</a:t>
            </a:r>
            <a:r>
              <a:rPr lang="hu-HU" b="1" dirty="0">
                <a:solidFill>
                  <a:srgbClr val="000000"/>
                </a:solidFill>
                <a:latin typeface="Raleway"/>
              </a:rPr>
              <a:t>),</a:t>
            </a:r>
          </a:p>
          <a:p>
            <a:pPr lvl="1"/>
            <a:r>
              <a:rPr lang="hu-HU" b="1" i="0" dirty="0">
                <a:solidFill>
                  <a:srgbClr val="000000"/>
                </a:solidFill>
                <a:effectLst/>
                <a:latin typeface="Raleway"/>
              </a:rPr>
              <a:t>Milyen tevékenységet kívánok folytatni.</a:t>
            </a:r>
          </a:p>
          <a:p>
            <a:r>
              <a:rPr lang="hu-HU" b="1" dirty="0">
                <a:solidFill>
                  <a:srgbClr val="000000"/>
                </a:solidFill>
                <a:latin typeface="Raleway"/>
              </a:rPr>
              <a:t>Egy vállalkozás sikere vagy bukása nem a vállalkozási formától függ, de sok esetben a megfelelő választás megkönnyítheti vagy éppen megnehezítheti a dolgokat.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46510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A73A4-7417-4DD4-9ACE-5AD86483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/>
              <a:t>Vállalkozási formák – alapvető csoportok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4F6268A7-A9B3-480E-9DED-1D7EC26964B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78709075"/>
              </p:ext>
            </p:extLst>
          </p:nvPr>
        </p:nvGraphicFramePr>
        <p:xfrm>
          <a:off x="685801" y="2063750"/>
          <a:ext cx="5410199" cy="3311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zövegdoboz 4">
            <a:extLst>
              <a:ext uri="{FF2B5EF4-FFF2-40B4-BE49-F238E27FC236}">
                <a16:creationId xmlns:a16="http://schemas.microsoft.com/office/drawing/2014/main" id="{D503A149-D7C0-4E63-8995-9013B9635FF1}"/>
              </a:ext>
            </a:extLst>
          </p:cNvPr>
          <p:cNvSpPr txBox="1"/>
          <p:nvPr/>
        </p:nvSpPr>
        <p:spPr>
          <a:xfrm>
            <a:off x="6181725" y="2063750"/>
            <a:ext cx="4900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i="0" dirty="0">
                <a:solidFill>
                  <a:srgbClr val="333333"/>
                </a:solidFill>
                <a:effectLst/>
                <a:latin typeface="Helvetica Neue"/>
              </a:rPr>
              <a:t>Egyéni vállalkozás a belföldi természetes személy üzletszerű, saját nevében és kockázatára, rendszeres, haszonszerzés céljából folytatott gazdasági tevékenysége.</a:t>
            </a:r>
            <a:endParaRPr lang="hu-HU" b="1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F968E28-A279-40E1-BDC6-78AB157AD98D}"/>
              </a:ext>
            </a:extLst>
          </p:cNvPr>
          <p:cNvSpPr txBox="1"/>
          <p:nvPr/>
        </p:nvSpPr>
        <p:spPr>
          <a:xfrm>
            <a:off x="6181724" y="3429000"/>
            <a:ext cx="49009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rgbClr val="333333"/>
                </a:solidFill>
                <a:latin typeface="Helvetica Neue"/>
              </a:rPr>
              <a:t>A gazdasági társaságok üzletszerű közös gazdasági tevékenység folytatására, a tagok vagyoni hozzájárulásával létrehozott, jogi személyiséggel rendelkező vállalkozások, amelyekben a tagok a nyereségből közösen részesednek, és a veszteséget közösen viselik.</a:t>
            </a:r>
          </a:p>
        </p:txBody>
      </p:sp>
      <p:sp>
        <p:nvSpPr>
          <p:cNvPr id="7" name="Nyíl: felfelé mutató 6">
            <a:extLst>
              <a:ext uri="{FF2B5EF4-FFF2-40B4-BE49-F238E27FC236}">
                <a16:creationId xmlns:a16="http://schemas.microsoft.com/office/drawing/2014/main" id="{C5CD206E-E83F-4085-9DF4-5097BF467939}"/>
              </a:ext>
            </a:extLst>
          </p:cNvPr>
          <p:cNvSpPr/>
          <p:nvPr/>
        </p:nvSpPr>
        <p:spPr>
          <a:xfrm>
            <a:off x="2876549" y="4105275"/>
            <a:ext cx="1019175" cy="1104900"/>
          </a:xfrm>
          <a:prstGeom prst="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A6740F21-041A-45EF-9B07-1DF9D86E02BD}"/>
              </a:ext>
            </a:extLst>
          </p:cNvPr>
          <p:cNvSpPr txBox="1"/>
          <p:nvPr/>
        </p:nvSpPr>
        <p:spPr>
          <a:xfrm>
            <a:off x="2771773" y="5111234"/>
            <a:ext cx="1228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Egyéni cég</a:t>
            </a:r>
          </a:p>
        </p:txBody>
      </p:sp>
    </p:spTree>
    <p:extLst>
      <p:ext uri="{BB962C8B-B14F-4D97-AF65-F5344CB8AC3E}">
        <p14:creationId xmlns:p14="http://schemas.microsoft.com/office/powerpoint/2010/main" val="114101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A73A4-7417-4DD4-9ACE-5AD86483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Vállalkozási formák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6B3400-68B3-47E1-AB0F-6895A7B8C3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hu-HU" b="1" i="0" dirty="0">
                <a:solidFill>
                  <a:srgbClr val="000000"/>
                </a:solidFill>
                <a:effectLst/>
                <a:latin typeface="Raleway"/>
              </a:rPr>
              <a:t>Az egyéni vállalkozás és gazdasági társaságok között helyezkedik el az egyéni cég.</a:t>
            </a:r>
          </a:p>
          <a:p>
            <a:r>
              <a:rPr lang="hu-HU" b="1" dirty="0">
                <a:solidFill>
                  <a:srgbClr val="000000"/>
                </a:solidFill>
                <a:latin typeface="Raleway"/>
              </a:rPr>
              <a:t>A gazdasági társaságok formakényszer alatt működhetnek, amely szerint: Gazdasági társaság közkereseti társaság, betéti társaság, korlátolt felelősségű társaság vagy részvénytársaság formájában alapítható.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37998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A73A4-7417-4DD4-9ACE-5AD86483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Vállalkozási formák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6B3400-68B3-47E1-AB0F-6895A7B8C3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hu-HU" b="1" u="sng" dirty="0">
                <a:solidFill>
                  <a:srgbClr val="000000"/>
                </a:solidFill>
                <a:latin typeface="Raleway"/>
              </a:rPr>
              <a:t>Egyéni vállalkozás: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Az egyéni vállalkozó mindennemű vele szemben fellépő követeléssel a teljes saját vagyonával felel.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Legnépszerűbb vállalkozási forma.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Indítása nem kíván tőkét, és akár 10 perc alatt is elvégezhető.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Dönteni kell az adózás formájáról, KATA?, Általány adózás, SZJA szerinti, ÁFA is kérdés.</a:t>
            </a: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1826683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A73A4-7417-4DD4-9ACE-5AD86483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Vállalkozási formák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6B3400-68B3-47E1-AB0F-6895A7B8C3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647826"/>
            <a:ext cx="10394707" cy="3726760"/>
          </a:xfrm>
        </p:spPr>
        <p:txBody>
          <a:bodyPr/>
          <a:lstStyle/>
          <a:p>
            <a:r>
              <a:rPr lang="hu-HU" b="1" u="sng" dirty="0">
                <a:solidFill>
                  <a:srgbClr val="000000"/>
                </a:solidFill>
                <a:latin typeface="Raleway"/>
              </a:rPr>
              <a:t>Egyéni vállalkozás:</a:t>
            </a: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0A67BDA-02DD-4EFD-90D1-73F5847865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9655809"/>
              </p:ext>
            </p:extLst>
          </p:nvPr>
        </p:nvGraphicFramePr>
        <p:xfrm>
          <a:off x="683624" y="1142999"/>
          <a:ext cx="10394706" cy="4943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1252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A73A4-7417-4DD4-9ACE-5AD86483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Vállalkozási formák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6B3400-68B3-47E1-AB0F-6895A7B8C3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837765"/>
            <a:ext cx="10394707" cy="3753409"/>
          </a:xfrm>
        </p:spPr>
        <p:txBody>
          <a:bodyPr>
            <a:normAutofit lnSpcReduction="10000"/>
          </a:bodyPr>
          <a:lstStyle/>
          <a:p>
            <a:r>
              <a:rPr lang="hu-HU" b="1" u="sng" dirty="0">
                <a:solidFill>
                  <a:srgbClr val="000000"/>
                </a:solidFill>
                <a:latin typeface="Raleway"/>
              </a:rPr>
              <a:t>Egyéni cég: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Az egyéni vállalkozó tevékenysége folytatására a 2009. évi CXV. törvény szerinti feltételekkel korlátolt felelősségű társaságot, vagy egyéni céget alapíthat. A korlátolt felelősségű társaság alapításában az egyéni vállalkozón kívül más személy nem vehet részt.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Egyéni cég esetében az alapítói vagyon Ha az egyéni cég jegyzett tőkéje a kettőszázezer forintot meghaladja, a jegyzett tőke pénzbeli és nem pénzbeli hozzájárulásból állhat.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Egyéni cég esetében: a teljes vagyonával felel a vállalkozó, A számviteli törvény alá tartozik, így év végén beszámolót kell készíteni.</a:t>
            </a:r>
          </a:p>
        </p:txBody>
      </p:sp>
    </p:spTree>
    <p:extLst>
      <p:ext uri="{BB962C8B-B14F-4D97-AF65-F5344CB8AC3E}">
        <p14:creationId xmlns:p14="http://schemas.microsoft.com/office/powerpoint/2010/main" val="2862576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A73A4-7417-4DD4-9ACE-5AD86483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52450"/>
            <a:ext cx="10396882" cy="1285315"/>
          </a:xfrm>
        </p:spPr>
        <p:txBody>
          <a:bodyPr>
            <a:normAutofit fontScale="90000"/>
          </a:bodyPr>
          <a:lstStyle/>
          <a:p>
            <a:r>
              <a:rPr lang="hu-HU" dirty="0"/>
              <a:t>Vállalkozási formák – </a:t>
            </a:r>
            <a:br>
              <a:rPr lang="hu-HU" dirty="0"/>
            </a:br>
            <a:r>
              <a:rPr lang="hu-HU" dirty="0"/>
              <a:t>társas vállalkozások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6B3400-68B3-47E1-AB0F-6895A7B8C3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hu-HU" b="1" u="sng" dirty="0">
                <a:solidFill>
                  <a:srgbClr val="000000"/>
                </a:solidFill>
                <a:latin typeface="Raleway"/>
              </a:rPr>
              <a:t>Közkereseti társaság: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Minimum két tagra van szükség a létrehozásához, és minden tag korlátlanul felel a vagyonával, emellett egyetemleges felelőséggel rendelkeznek.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A tagok aktívan dolgoznak a cégben.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A tagok vagyoni hozzájárulásának minimum összegét a törvény nem határozza meg.</a:t>
            </a: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3386145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A73A4-7417-4DD4-9ACE-5AD86483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52450"/>
            <a:ext cx="10396882" cy="1285315"/>
          </a:xfrm>
        </p:spPr>
        <p:txBody>
          <a:bodyPr>
            <a:normAutofit fontScale="90000"/>
          </a:bodyPr>
          <a:lstStyle/>
          <a:p>
            <a:r>
              <a:rPr lang="hu-HU" dirty="0"/>
              <a:t>Vállalkozási formák – </a:t>
            </a:r>
            <a:br>
              <a:rPr lang="hu-HU" dirty="0"/>
            </a:br>
            <a:r>
              <a:rPr lang="hu-HU" dirty="0"/>
              <a:t>társas vállalkozások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6B3400-68B3-47E1-AB0F-6895A7B8C3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537304"/>
          </a:xfrm>
        </p:spPr>
        <p:txBody>
          <a:bodyPr/>
          <a:lstStyle/>
          <a:p>
            <a:r>
              <a:rPr lang="hu-HU" b="1" u="sng" dirty="0">
                <a:solidFill>
                  <a:srgbClr val="000000"/>
                </a:solidFill>
                <a:latin typeface="Raleway"/>
              </a:rPr>
              <a:t>betáti társaság: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minimum két taggal indulhat.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A vállalkozás indításakor le kell a szerepeket szerződésben fektetni, hatalmas különbség van a bel-, és kültag felelőssége között. </a:t>
            </a:r>
          </a:p>
          <a:p>
            <a:pPr marL="1143000" lvl="3">
              <a:spcBef>
                <a:spcPts val="1000"/>
              </a:spcBef>
            </a:pPr>
            <a:r>
              <a:rPr lang="hu-HU" sz="1600" b="1" dirty="0">
                <a:solidFill>
                  <a:srgbClr val="000000"/>
                </a:solidFill>
                <a:latin typeface="Raleway"/>
              </a:rPr>
              <a:t>A beltag a teljes vagyonával felel, míg a kültag csupán a betett értékkel, </a:t>
            </a:r>
          </a:p>
          <a:p>
            <a:pPr marL="1143000" lvl="3">
              <a:spcBef>
                <a:spcPts val="1000"/>
              </a:spcBef>
            </a:pPr>
            <a:r>
              <a:rPr lang="hu-HU" sz="1600" b="1" dirty="0">
                <a:solidFill>
                  <a:srgbClr val="000000"/>
                </a:solidFill>
                <a:latin typeface="Raleway"/>
              </a:rPr>
              <a:t>illetve az üzlet vezetésére és képviseletére is csak a beltag jogosult, </a:t>
            </a:r>
          </a:p>
          <a:p>
            <a:pPr marL="1143000" lvl="3">
              <a:spcBef>
                <a:spcPts val="1000"/>
              </a:spcBef>
            </a:pPr>
            <a:r>
              <a:rPr lang="hu-HU" sz="1600" b="1" dirty="0">
                <a:solidFill>
                  <a:srgbClr val="000000"/>
                </a:solidFill>
                <a:latin typeface="Raleway"/>
              </a:rPr>
              <a:t>a kültagok csendestársként vannak jelen.</a:t>
            </a: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3933368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A73A4-7417-4DD4-9ACE-5AD86483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52450"/>
            <a:ext cx="10396882" cy="1285315"/>
          </a:xfrm>
        </p:spPr>
        <p:txBody>
          <a:bodyPr>
            <a:normAutofit fontScale="90000"/>
          </a:bodyPr>
          <a:lstStyle/>
          <a:p>
            <a:r>
              <a:rPr lang="hu-HU" dirty="0"/>
              <a:t>Vállalkozási formák – </a:t>
            </a:r>
            <a:br>
              <a:rPr lang="hu-HU" dirty="0"/>
            </a:br>
            <a:r>
              <a:rPr lang="hu-HU" dirty="0"/>
              <a:t>társas vállalkozások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6B3400-68B3-47E1-AB0F-6895A7B8C3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295525"/>
            <a:ext cx="10394707" cy="3314700"/>
          </a:xfrm>
        </p:spPr>
        <p:txBody>
          <a:bodyPr>
            <a:normAutofit lnSpcReduction="10000"/>
          </a:bodyPr>
          <a:lstStyle/>
          <a:p>
            <a:r>
              <a:rPr lang="hu-HU" b="1" u="sng" dirty="0">
                <a:solidFill>
                  <a:srgbClr val="000000"/>
                </a:solidFill>
                <a:latin typeface="Raleway"/>
              </a:rPr>
              <a:t>Korlátolt felelősségű társaság: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Indulásához 3 millió forint alaptőkére van szükség, amely törzsbetétekből tevődik össze. Egy törzsbetét minimum értéke 100 000 Ft.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A nyereséget a törzsbetétek arányában osztják szét a tagok között. 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Felelősségük is a törzsbetét arányában oszlik meg.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kizárólag az ügyvezető és a vezető beosztásban lévő tagok felelnek a teljes vagyonukkal.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Az alapításához kötelező társasági szerződést kötni. </a:t>
            </a: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2615061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A73A4-7417-4DD4-9ACE-5AD86483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52450"/>
            <a:ext cx="10396882" cy="1285315"/>
          </a:xfrm>
        </p:spPr>
        <p:txBody>
          <a:bodyPr>
            <a:normAutofit fontScale="90000"/>
          </a:bodyPr>
          <a:lstStyle/>
          <a:p>
            <a:r>
              <a:rPr lang="hu-HU" dirty="0"/>
              <a:t>Vállalkozási formák – </a:t>
            </a:r>
            <a:br>
              <a:rPr lang="hu-HU" dirty="0"/>
            </a:br>
            <a:r>
              <a:rPr lang="hu-HU" dirty="0"/>
              <a:t>társas vállalkozások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6B3400-68B3-47E1-AB0F-6895A7B8C3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hu-HU" b="1" u="sng" dirty="0">
                <a:solidFill>
                  <a:srgbClr val="000000"/>
                </a:solidFill>
                <a:latin typeface="Raleway"/>
              </a:rPr>
              <a:t>részvénytársaság: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Alaptőke követelmény nyilvános alapításnál minimum 20 millió Ft, zártkörű alapításnál 5 millió Ft szükséges.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Nyílt alapítás: a részvények nyilvánosan kerülnek forgalomba hozatalra vagy nyilvános értékesítésre.</a:t>
            </a:r>
          </a:p>
          <a:p>
            <a:pPr marL="685800" lvl="2">
              <a:spcBef>
                <a:spcPts val="1000"/>
              </a:spcBef>
            </a:pPr>
            <a:r>
              <a:rPr lang="hu-HU" sz="1800" b="1" dirty="0">
                <a:solidFill>
                  <a:srgbClr val="000000"/>
                </a:solidFill>
                <a:latin typeface="Raleway"/>
              </a:rPr>
              <a:t>Zárt alapítás: a részvények nem kerülnek nyilvános forgalomba, az alapítók a társaság összes részvényét maguk jegyzik.</a:t>
            </a: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  <a:p>
            <a:pPr marL="685800" lvl="2">
              <a:spcBef>
                <a:spcPts val="1000"/>
              </a:spcBef>
            </a:pPr>
            <a:endParaRPr lang="hu-HU" sz="1800" b="1" dirty="0">
              <a:solidFill>
                <a:srgbClr val="000000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4291663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53CAC1-1CE6-44BC-9D46-55CAB5E8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25" y="228601"/>
            <a:ext cx="10396882" cy="857250"/>
          </a:xfrm>
        </p:spPr>
        <p:txBody>
          <a:bodyPr/>
          <a:lstStyle/>
          <a:p>
            <a:r>
              <a:rPr lang="hu-HU" dirty="0"/>
              <a:t>Vállalkozások minősítése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22B131FC-EF98-4F57-AF0C-C2646B9FFA1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24311" t="28201" r="25601" b="51814"/>
          <a:stretch/>
        </p:blipFill>
        <p:spPr>
          <a:xfrm>
            <a:off x="633557" y="923094"/>
            <a:ext cx="10440033" cy="2343149"/>
          </a:xfr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5B5A13F0-61E9-4859-AD48-EF0D14FC9F20}"/>
              </a:ext>
            </a:extLst>
          </p:cNvPr>
          <p:cNvSpPr txBox="1"/>
          <p:nvPr/>
        </p:nvSpPr>
        <p:spPr>
          <a:xfrm>
            <a:off x="633556" y="3429000"/>
            <a:ext cx="104400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/>
              <a:t>A foglalkoztatotti létszámnak, valamint a pénzügyi határértékek (éves nettó árbevétel, mérleg főösszeg) közül valamelyiknek (egyiknek) kell eleget tenni.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C35739E5-B00A-4BF3-9932-348245178E56}"/>
              </a:ext>
            </a:extLst>
          </p:cNvPr>
          <p:cNvSpPr txBox="1"/>
          <p:nvPr/>
        </p:nvSpPr>
        <p:spPr>
          <a:xfrm>
            <a:off x="640471" y="4075331"/>
            <a:ext cx="104400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/>
              <a:t>Nem minősül KKV-nak az a vállalkozás, amelyben az állami, illetve önkormányzati tulajdon közvetve vagy közvetlenül – tőke vagy szavazati jog alapján, együttesen vagy külön – eléri vagy meghaladja a 25 százalékot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CBC7EAC8-8C82-4520-BD5E-B9F7531C5D63}"/>
              </a:ext>
            </a:extLst>
          </p:cNvPr>
          <p:cNvSpPr txBox="1"/>
          <p:nvPr/>
        </p:nvSpPr>
        <p:spPr>
          <a:xfrm>
            <a:off x="640471" y="4705826"/>
            <a:ext cx="104400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/>
              <a:t>A fenti mutatók túllépése, vagy az azokban fennálló csökkenés csak akkor eredményezi a vállalkozás jellegének megváltozását, ha a határértéket két, egymást követő beszámoló időszakban túllépi, vagy elmarad az érték a megjelölt határértéktől. </a:t>
            </a:r>
          </a:p>
        </p:txBody>
      </p:sp>
    </p:spTree>
    <p:extLst>
      <p:ext uri="{BB962C8B-B14F-4D97-AF65-F5344CB8AC3E}">
        <p14:creationId xmlns:p14="http://schemas.microsoft.com/office/powerpoint/2010/main" val="2048210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B78487-09EE-4E04-9EA9-ECAD25DB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714375"/>
          </a:xfrm>
        </p:spPr>
        <p:txBody>
          <a:bodyPr>
            <a:normAutofit fontScale="90000"/>
          </a:bodyPr>
          <a:lstStyle/>
          <a:p>
            <a:r>
              <a:rPr lang="hu-HU" dirty="0"/>
              <a:t>Vállalkozások számának alakulás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719F270-901F-4AD4-91A5-9832F2FDE23F}"/>
              </a:ext>
            </a:extLst>
          </p:cNvPr>
          <p:cNvSpPr txBox="1"/>
          <p:nvPr/>
        </p:nvSpPr>
        <p:spPr>
          <a:xfrm>
            <a:off x="9048750" y="5086350"/>
            <a:ext cx="152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/>
              <a:t>Forrás: https://www.opten.hu/kozlemenyek/fordulat-2024--aktiv-egyeni-vallalkozok-ternyerese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40E1E7F-B294-76E1-61EA-AE4C96B37708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1400175"/>
            <a:ext cx="8472487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900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B78487-09EE-4E04-9EA9-ECAD25DB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714375"/>
          </a:xfrm>
        </p:spPr>
        <p:txBody>
          <a:bodyPr>
            <a:normAutofit fontScale="90000"/>
          </a:bodyPr>
          <a:lstStyle/>
          <a:p>
            <a:r>
              <a:rPr lang="hu-HU" dirty="0"/>
              <a:t>Vállalkozások számának alakulás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719F270-901F-4AD4-91A5-9832F2FDE23F}"/>
              </a:ext>
            </a:extLst>
          </p:cNvPr>
          <p:cNvSpPr txBox="1"/>
          <p:nvPr/>
        </p:nvSpPr>
        <p:spPr>
          <a:xfrm>
            <a:off x="685800" y="5095947"/>
            <a:ext cx="6076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/>
              <a:t>Forrás: https://www.ksh.hu/heti-monitor/vallalkozaso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DD49AD6-0343-5990-3A3F-49FC5E01D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94" y="1277061"/>
            <a:ext cx="11427725" cy="3571164"/>
          </a:xfrm>
          <a:prstGeom prst="rect">
            <a:avLst/>
          </a:prstGeom>
        </p:spPr>
      </p:pic>
      <p:sp>
        <p:nvSpPr>
          <p:cNvPr id="7" name="Tartalom helye 6">
            <a:extLst>
              <a:ext uri="{FF2B5EF4-FFF2-40B4-BE49-F238E27FC236}">
                <a16:creationId xmlns:a16="http://schemas.microsoft.com/office/drawing/2014/main" id="{625353D7-38DD-A75E-8385-7099F47C06C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5390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A81A6C-F4AA-4CED-89FB-E711487B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Köszönöm a figyelmet!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E099EB0-772C-4AF8-BF14-C8EE728F3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22172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ő esemény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TM04033927[[fn=Fő esemény]]</Template>
  <TotalTime>237</TotalTime>
  <Words>902</Words>
  <Application>Microsoft Office PowerPoint</Application>
  <PresentationFormat>Szélesvásznú</PresentationFormat>
  <Paragraphs>89</Paragraphs>
  <Slides>18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3" baseType="lpstr">
      <vt:lpstr>Arial</vt:lpstr>
      <vt:lpstr>Helvetica Neue</vt:lpstr>
      <vt:lpstr>Impact</vt:lpstr>
      <vt:lpstr>Raleway</vt:lpstr>
      <vt:lpstr>Fő esemény</vt:lpstr>
      <vt:lpstr>Vállalkozási formák és jellemzőik</vt:lpstr>
      <vt:lpstr>Vállalkozási formák</vt:lpstr>
      <vt:lpstr>Vállalkozási formák</vt:lpstr>
      <vt:lpstr>Vállalkozási formák</vt:lpstr>
      <vt:lpstr>Vállalkozási formák</vt:lpstr>
      <vt:lpstr>Vállalkozási formák – alapvető csoportok</vt:lpstr>
      <vt:lpstr>Vállalkozási formák</vt:lpstr>
      <vt:lpstr>Vállalkozási formák</vt:lpstr>
      <vt:lpstr>Vállalkozási formák</vt:lpstr>
      <vt:lpstr>Vállalkozási formák</vt:lpstr>
      <vt:lpstr>Vállalkozási formák –  társas vállalkozások</vt:lpstr>
      <vt:lpstr>Vállalkozási formák –  társas vállalkozások</vt:lpstr>
      <vt:lpstr>Vállalkozási formák –  társas vállalkozások</vt:lpstr>
      <vt:lpstr>Vállalkozási formák –  társas vállalkozások</vt:lpstr>
      <vt:lpstr>Vállalkozások minősítése</vt:lpstr>
      <vt:lpstr>Vállalkozások számának alakulás</vt:lpstr>
      <vt:lpstr>Vállalkozások számának alakulás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Vállalkozási formák és jellemzőik</dc:title>
  <dc:creator>Dell</dc:creator>
  <cp:lastModifiedBy>Dell</cp:lastModifiedBy>
  <cp:revision>38</cp:revision>
  <dcterms:created xsi:type="dcterms:W3CDTF">2020-09-28T18:58:43Z</dcterms:created>
  <dcterms:modified xsi:type="dcterms:W3CDTF">2025-02-18T09:12:25Z</dcterms:modified>
</cp:coreProperties>
</file>