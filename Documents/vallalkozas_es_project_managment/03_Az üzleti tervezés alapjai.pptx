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7102475" cy="102346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1D8B94A0-E930-4BEF-A387-9B7CE8711D61}" type="datetimeFigureOut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AD35D5B-9FD7-4F16-9ABF-BB5BD90478E7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C2BD24EC-0D8D-4C4D-83CA-38A291B426B9}" type="datetimeFigureOut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C1B85009-9563-46D7-B01F-29DA4011D397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C7657-0A67-4D89-A59F-9DDAEC607CAC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E446D-DE8F-4D41-A911-AD53CC7E3951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3F39-DB7E-4134-B043-E7EF24323F9F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FD14-2DA8-4E00-B56E-5F40032A207E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18F02-ABED-4770-8956-5BB4E598CA03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D88E0-7EB6-4405-9DE1-FAB409CE2CBF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8EDB-8BC4-4846-9289-4B259223905B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3302-8494-4FAC-82BF-6DEBDCAF1F11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3DD8-0489-4DE8-9204-5D41749776FF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9C61-D45D-4A6A-9B9C-DDC069410196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DD121-2E9B-46E5-83F8-62DE1218CE34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74D97-D789-465B-AE3C-97BA0DFF96F8}" type="datetime1">
              <a:rPr lang="hu-HU" smtClean="0"/>
              <a:pPr/>
              <a:t>2025. 02. 24.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7FC7B-8251-45FF-B16F-5C83E47E597E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Az üzleti tervezés alapjai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53C39E-1737-0CFD-7D30-62E0F321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Egy gondolat a startégiáról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676E87AB-6D02-FEA5-F755-A88207319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416" t="34042" r="12413" b="13455"/>
          <a:stretch/>
        </p:blipFill>
        <p:spPr>
          <a:xfrm>
            <a:off x="457200" y="1417638"/>
            <a:ext cx="8229600" cy="4178106"/>
          </a:xfr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4C543A8-CA85-15A9-7105-550A6B66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711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üzleti tervezés alapjai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3</a:t>
            </a:fld>
            <a:endParaRPr lang="hu-H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/>
          <a:lstStyle/>
          <a:p>
            <a:r>
              <a:rPr lang="hu-HU" dirty="0"/>
              <a:t>Mi az üzleti terv?</a:t>
            </a:r>
          </a:p>
          <a:p>
            <a:r>
              <a:rPr lang="hu-HU" dirty="0"/>
              <a:t>Dr. Pálinkás Jenő szerint:</a:t>
            </a:r>
          </a:p>
          <a:p>
            <a:pPr lvl="1"/>
            <a:r>
              <a:rPr lang="hu-HU" sz="3200" b="1" i="1" dirty="0"/>
              <a:t>„Az üzleti terv a vállalkozás hosszú távú céljai, eredményelvárásai és a tényleges – belső és külső – lehetőségei közötti összhang megteremtésének eszköze,  az összhangteremtés módjának, tartalmi összefüggésének bemutatása és számszaki dokumentumokkal való alátámasztása.”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4</a:t>
            </a:fld>
            <a:endParaRPr lang="hu-H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/>
          <a:lstStyle/>
          <a:p>
            <a:r>
              <a:rPr lang="hu-HU" sz="3200" dirty="0"/>
              <a:t>A stratégia az irányt jelöli ki, míg az üzleti terv azt mutatja meg, hogy a jelenlegi helyzetből hogyan tesszük meg a célhoz vezető utat.</a:t>
            </a:r>
          </a:p>
          <a:p>
            <a:r>
              <a:rPr lang="hu-HU" dirty="0"/>
              <a:t>Fontos azt is tisztázni mi nem üzleti terv:</a:t>
            </a:r>
          </a:p>
          <a:p>
            <a:pPr lvl="1"/>
            <a:r>
              <a:rPr lang="hu-HU" sz="3200" dirty="0"/>
              <a:t>Nincsenek benne számszaki adatok – nem lehet mérni, csak a cél van megfogalmazva,</a:t>
            </a:r>
          </a:p>
          <a:p>
            <a:pPr lvl="1"/>
            <a:r>
              <a:rPr lang="hu-HU" sz="3200" dirty="0"/>
              <a:t>A pénzügyi terv önmagában nem üzleti terv, bár elválaszthatatlan részét képezi.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5</a:t>
            </a:fld>
            <a:endParaRPr lang="hu-H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/>
          <a:lstStyle/>
          <a:p>
            <a:r>
              <a:rPr lang="hu-HU" dirty="0"/>
              <a:t>Milyen szervezet készítsen üzleti tervet:</a:t>
            </a:r>
          </a:p>
          <a:p>
            <a:pPr lvl="1"/>
            <a:r>
              <a:rPr lang="hu-HU" sz="3200" dirty="0"/>
              <a:t>Üzleti tervet jellemzően a gazdálkodó szervezetek készítenek, de</a:t>
            </a:r>
          </a:p>
          <a:p>
            <a:pPr lvl="1"/>
            <a:r>
              <a:rPr lang="hu-HU" sz="3200" dirty="0"/>
              <a:t>Bármilyen szervezet készülhet a jövőre (civil, nonprofit, </a:t>
            </a:r>
            <a:r>
              <a:rPr lang="hu-HU" sz="3200" dirty="0" err="1"/>
              <a:t>stb</a:t>
            </a:r>
            <a:r>
              <a:rPr lang="hu-HU" sz="3200" dirty="0"/>
              <a:t>).</a:t>
            </a:r>
          </a:p>
          <a:p>
            <a:pPr lvl="1"/>
            <a:endParaRPr lang="hu-HU" sz="3200" dirty="0"/>
          </a:p>
          <a:p>
            <a:pPr>
              <a:buNone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6</a:t>
            </a:fld>
            <a:endParaRPr lang="hu-H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/>
          <a:lstStyle/>
          <a:p>
            <a:r>
              <a:rPr lang="hu-HU" dirty="0"/>
              <a:t>Ki készítse az üzleti tervet?</a:t>
            </a:r>
          </a:p>
          <a:p>
            <a:pPr lvl="1"/>
            <a:r>
              <a:rPr lang="hu-HU" sz="3200" dirty="0"/>
              <a:t>Mindegy csak ne én! – ez a jellemző hozzáállás.</a:t>
            </a:r>
          </a:p>
          <a:p>
            <a:pPr lvl="1"/>
            <a:r>
              <a:rPr lang="hu-HU" sz="3200" dirty="0"/>
              <a:t>A szervezet felső vezetése mindenképp kell hozzá, hiszen a stratégia náluk összpontosul.</a:t>
            </a:r>
          </a:p>
          <a:p>
            <a:pPr lvl="1"/>
            <a:r>
              <a:rPr lang="hu-HU" sz="3200" dirty="0"/>
              <a:t>Külső tanácsadó sokat tud segíteni, de belső segítség nélkül nem tud jó minőségű üzleti tervet készíteni.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7</a:t>
            </a:fld>
            <a:endParaRPr lang="hu-H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dirty="0"/>
              <a:t>Mikor készítenek üzleti tervet?</a:t>
            </a:r>
          </a:p>
          <a:p>
            <a:pPr lvl="1"/>
            <a:r>
              <a:rPr lang="hu-HU" sz="3200" dirty="0"/>
              <a:t>Cégalapítás,</a:t>
            </a:r>
          </a:p>
          <a:p>
            <a:pPr lvl="1"/>
            <a:r>
              <a:rPr lang="hu-HU" sz="3200" dirty="0"/>
              <a:t>Hatásfokjavítás,</a:t>
            </a:r>
          </a:p>
          <a:p>
            <a:pPr lvl="1"/>
            <a:r>
              <a:rPr lang="hu-HU" sz="3200" dirty="0"/>
              <a:t>Hitelfelvétel, Befektetők megnyerése,</a:t>
            </a:r>
          </a:p>
          <a:p>
            <a:pPr lvl="1"/>
            <a:r>
              <a:rPr lang="hu-HU" sz="3200" dirty="0"/>
              <a:t>Új termékek, szolgáltatások bevezetésekor,</a:t>
            </a:r>
          </a:p>
          <a:p>
            <a:pPr lvl="1"/>
            <a:r>
              <a:rPr lang="hu-HU" sz="3200" dirty="0"/>
              <a:t>Új projektek esetében,</a:t>
            </a:r>
          </a:p>
          <a:p>
            <a:r>
              <a:rPr lang="hu-HU" dirty="0"/>
              <a:t>Ez a jellemző, de az ideális az lenne, ha minden évben minden szervezet írna tervet, hogy mérni tudja fejlődését, észrevegye a pályáról való letérést stb.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8</a:t>
            </a:fld>
            <a:endParaRPr lang="hu-H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Üzleti terv felépítése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üzleti tervezés alapjai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9</a:t>
            </a:fld>
            <a:endParaRPr lang="hu-H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dirty="0"/>
              <a:t>Nincs kötelezően alkalmazandó, általános séma a gyakorlatban (kihez írjuk az szabja meg).</a:t>
            </a:r>
            <a:endParaRPr lang="hu-HU" b="1" u="sng" dirty="0"/>
          </a:p>
          <a:p>
            <a:r>
              <a:rPr lang="hu-HU" dirty="0"/>
              <a:t>Felépítését nagyban befolyásolja, hogy mi az írás célja.</a:t>
            </a:r>
          </a:p>
          <a:p>
            <a:r>
              <a:rPr lang="hu-HU" dirty="0"/>
              <a:t>Jellemzően a hitelintézetek, bankok és befektető társaságok saját kötelező formával dolgoznak.</a:t>
            </a:r>
          </a:p>
          <a:p>
            <a:pPr lvl="1"/>
            <a:r>
              <a:rPr lang="hu-HU" dirty="0"/>
              <a:t>Széchenyi </a:t>
            </a:r>
            <a:r>
              <a:rPr lang="hu-HU" dirty="0" err="1"/>
              <a:t>Tőkealap-Kezelő</a:t>
            </a:r>
            <a:r>
              <a:rPr lang="hu-HU" dirty="0"/>
              <a:t> </a:t>
            </a:r>
            <a:r>
              <a:rPr lang="hu-HU" dirty="0" err="1"/>
              <a:t>Zrt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Kisvállalkozás-fejlesztő Pénzügyi </a:t>
            </a:r>
            <a:r>
              <a:rPr lang="hu-HU" dirty="0" err="1"/>
              <a:t>Zrt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Magyar Fejlesztési Bank </a:t>
            </a:r>
            <a:r>
              <a:rPr lang="hu-HU" dirty="0" err="1"/>
              <a:t>Zrt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10</a:t>
            </a:fld>
            <a:endParaRPr lang="hu-H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dirty="0"/>
              <a:t>Létezik egy olyan felépítés, ami könnyen kezelhető rendszerbe foglalja össze az üzleti tervet.</a:t>
            </a:r>
          </a:p>
          <a:p>
            <a:r>
              <a:rPr lang="hu-HU" dirty="0"/>
              <a:t>Minden szervezet saját elvárásaihoz, igényeihez szabhatja.</a:t>
            </a:r>
          </a:p>
          <a:p>
            <a:r>
              <a:rPr lang="hu-HU" dirty="0"/>
              <a:t>Könnyen használható hitelkérelmekhez, pályázatokhoz.</a:t>
            </a:r>
          </a:p>
          <a:p>
            <a:r>
              <a:rPr lang="hu-HU" dirty="0"/>
              <a:t>Legfőbb fejezeti a következők: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11</a:t>
            </a:fld>
            <a:endParaRPr lang="hu-H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Szervezet alapadatai:</a:t>
            </a:r>
          </a:p>
          <a:p>
            <a:r>
              <a:rPr lang="hu-HU" dirty="0"/>
              <a:t>Fejezet célja, hogy az üzleti tervet, mint információ forrást használó könnyen beazonosíthassa a szervezetet.</a:t>
            </a:r>
          </a:p>
          <a:p>
            <a:r>
              <a:rPr lang="hu-HU" dirty="0"/>
              <a:t>Mik a kötelező információk:</a:t>
            </a:r>
          </a:p>
          <a:p>
            <a:pPr lvl="1"/>
            <a:r>
              <a:rPr lang="hu-HU" dirty="0"/>
              <a:t>Szervezet neve, címe,</a:t>
            </a:r>
          </a:p>
          <a:p>
            <a:pPr lvl="1"/>
            <a:r>
              <a:rPr lang="hu-HU" dirty="0"/>
              <a:t>Adószám,</a:t>
            </a:r>
          </a:p>
          <a:p>
            <a:pPr lvl="1"/>
            <a:r>
              <a:rPr lang="hu-HU" dirty="0"/>
              <a:t>Cégjegyzék szám,</a:t>
            </a:r>
          </a:p>
          <a:p>
            <a:pPr lvl="1"/>
            <a:r>
              <a:rPr lang="hu-HU" dirty="0"/>
              <a:t>Telephelyek,</a:t>
            </a:r>
          </a:p>
          <a:p>
            <a:pPr lvl="1"/>
            <a:r>
              <a:rPr lang="hu-HU" dirty="0"/>
              <a:t>Tulajdonosok, jogi forma,</a:t>
            </a:r>
          </a:p>
          <a:p>
            <a:pPr lvl="1"/>
            <a:r>
              <a:rPr lang="hu-HU" dirty="0"/>
              <a:t>Tőkeszerkezet.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12</a:t>
            </a:fld>
            <a:endParaRPr lang="hu-H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Vezetői összefoglaló:</a:t>
            </a:r>
          </a:p>
          <a:p>
            <a:r>
              <a:rPr lang="hu-HU" dirty="0"/>
              <a:t>Célja, hogy tömören fogalmazza meg a terv lényegét.</a:t>
            </a:r>
          </a:p>
          <a:p>
            <a:r>
              <a:rPr lang="hu-HU" dirty="0"/>
              <a:t>Legyen a terv érdemi kivonata. </a:t>
            </a:r>
          </a:p>
          <a:p>
            <a:r>
              <a:rPr lang="hu-HU" dirty="0"/>
              <a:t>Ezért a legutoljára készítsük el.</a:t>
            </a:r>
          </a:p>
          <a:p>
            <a:r>
              <a:rPr lang="hu-HU" dirty="0"/>
              <a:t>A befektető, hitelintézet munkatársa számos tervet olvas, ezért a vezetői összefoglaló elolvasását követően, ami 1-2 oldal értse meg a célt.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13</a:t>
            </a:fld>
            <a:endParaRPr lang="hu-H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A szervezet bemutatása:</a:t>
            </a:r>
          </a:p>
          <a:p>
            <a:r>
              <a:rPr lang="hu-HU" dirty="0"/>
              <a:t>Célja, hogy az olvasó általános képet kapjon a szervezetről.</a:t>
            </a:r>
          </a:p>
          <a:p>
            <a:r>
              <a:rPr lang="hu-HU" dirty="0"/>
              <a:t>Mik a fő tevékenységek?</a:t>
            </a:r>
          </a:p>
          <a:p>
            <a:r>
              <a:rPr lang="hu-HU" dirty="0"/>
              <a:t>Hol, milyen földrajzi területen végezzük?</a:t>
            </a:r>
          </a:p>
          <a:p>
            <a:r>
              <a:rPr lang="hu-HU" dirty="0"/>
              <a:t>Hol jár a fejlődés útján a szervezet?</a:t>
            </a:r>
          </a:p>
          <a:p>
            <a:r>
              <a:rPr lang="hu-HU" dirty="0"/>
              <a:t>Ebben a fejezetben fontos kitérni a legfontosabb vevőkre és számukra, illetve a szállítókra is.</a:t>
            </a:r>
          </a:p>
          <a:p>
            <a:r>
              <a:rPr lang="hu-HU" dirty="0"/>
              <a:t>Ha értünk el sikereket fektessünk rá hangsúlyt!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14</a:t>
            </a:fld>
            <a:endParaRPr lang="hu-H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A szervezet bemutatása:</a:t>
            </a:r>
          </a:p>
          <a:p>
            <a:r>
              <a:rPr lang="hu-HU" dirty="0"/>
              <a:t>A fejezet lehetőséget biztosít arra, hogy bemutassuk jelenlegi helyzetünket.</a:t>
            </a:r>
          </a:p>
          <a:p>
            <a:r>
              <a:rPr lang="hu-HU" dirty="0"/>
              <a:t>Helyzetfeltárás!</a:t>
            </a:r>
          </a:p>
          <a:p>
            <a:r>
              <a:rPr lang="hu-HU" dirty="0"/>
              <a:t>Hiszen az üzleti terv teremti meg a kapcsolatot a jelenlegi helyzet és a jövőbeni cél között!</a:t>
            </a:r>
          </a:p>
          <a:p>
            <a:r>
              <a:rPr lang="hu-HU" dirty="0"/>
              <a:t>Kulcsszereplők bemutatása – főleg kisebb szervezetek esetében, igen fontos a vezető tapasztalata. </a:t>
            </a:r>
          </a:p>
          <a:p>
            <a:r>
              <a:rPr lang="hu-HU" dirty="0"/>
              <a:t>Részletes szakmai önéletrajz képezheti a terv mellékletét.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15</a:t>
            </a:fld>
            <a:endParaRPr lang="hu-H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Működési terv:</a:t>
            </a:r>
          </a:p>
          <a:p>
            <a:r>
              <a:rPr lang="hu-HU" dirty="0"/>
              <a:t>Célja, hogy az olvasó részletekbe menően megismerje a fejlesztést, annak szakaszait és működését.</a:t>
            </a:r>
          </a:p>
          <a:p>
            <a:r>
              <a:rPr lang="hu-HU" dirty="0"/>
              <a:t>A technológia bemutatása – ne legyen túl bő, de elégséges legyen. Nem szakértő olvassa.</a:t>
            </a:r>
          </a:p>
          <a:p>
            <a:r>
              <a:rPr lang="hu-HU" dirty="0"/>
              <a:t>Itt kerül szövegesen megalapozásra, hogy miért szükséges a fejlesztés.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16</a:t>
            </a:fld>
            <a:endParaRPr lang="hu-H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Működési terv:</a:t>
            </a:r>
          </a:p>
          <a:p>
            <a:r>
              <a:rPr lang="hu-HU" dirty="0"/>
              <a:t>Hol végzik az új tevékenységet?</a:t>
            </a:r>
          </a:p>
          <a:p>
            <a:r>
              <a:rPr lang="hu-HU" dirty="0"/>
              <a:t>Kik végzik? Hány új munkaerőre lesz szükség?</a:t>
            </a:r>
          </a:p>
          <a:p>
            <a:r>
              <a:rPr lang="hu-HU" dirty="0"/>
              <a:t>Milyen képzettség szükséges hozzá?</a:t>
            </a:r>
          </a:p>
          <a:p>
            <a:r>
              <a:rPr lang="hu-HU" dirty="0"/>
              <a:t>Milyen tárgyi feltételei vannak a tevékenységnek?</a:t>
            </a:r>
          </a:p>
          <a:p>
            <a:r>
              <a:rPr lang="hu-HU" dirty="0"/>
              <a:t>Milyen minőségbiztosítás rendszer kerül kiépítésre?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17</a:t>
            </a:fld>
            <a:endParaRPr lang="hu-H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Marketing terv:</a:t>
            </a:r>
          </a:p>
          <a:p>
            <a:r>
              <a:rPr lang="hu-HU" dirty="0"/>
              <a:t>Ebben a fejezetben az alábbi kérdésekre keressük a választ:</a:t>
            </a:r>
          </a:p>
          <a:p>
            <a:pPr lvl="1"/>
            <a:r>
              <a:rPr lang="hu-HU" sz="3200" dirty="0"/>
              <a:t>A piacunk helyzete?</a:t>
            </a:r>
          </a:p>
          <a:p>
            <a:pPr lvl="1"/>
            <a:r>
              <a:rPr lang="hu-HU" sz="3200" dirty="0"/>
              <a:t>Piaci szegmensek?</a:t>
            </a:r>
          </a:p>
          <a:p>
            <a:pPr lvl="1"/>
            <a:r>
              <a:rPr lang="hu-HU" sz="3200" dirty="0"/>
              <a:t>Új piacok nyitása?</a:t>
            </a:r>
          </a:p>
          <a:p>
            <a:pPr lvl="1"/>
            <a:r>
              <a:rPr lang="hu-HU" sz="3200" dirty="0"/>
              <a:t>Vevők jellemzői?</a:t>
            </a:r>
          </a:p>
          <a:p>
            <a:pPr lvl="1"/>
            <a:r>
              <a:rPr lang="hu-HU" sz="3200" dirty="0"/>
              <a:t>Image?</a:t>
            </a:r>
          </a:p>
          <a:p>
            <a:pPr lvl="1"/>
            <a:r>
              <a:rPr lang="hu-HU" sz="3200" dirty="0"/>
              <a:t>4 vagy 7 p, az árral kapcsolatos döntések jelentősen befolyásolják a pénzügyi részt.</a:t>
            </a:r>
          </a:p>
          <a:p>
            <a:pPr lvl="1"/>
            <a:endParaRPr lang="hu-HU" sz="32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18</a:t>
            </a:fld>
            <a:endParaRPr lang="hu-H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19</a:t>
            </a:fld>
            <a:endParaRPr lang="hu-HU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8072494" cy="521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Pénzügyi terv:</a:t>
            </a:r>
          </a:p>
          <a:p>
            <a:r>
              <a:rPr lang="hu-HU" sz="3200" dirty="0"/>
              <a:t>Célja, hogy bemutassa a szervezet pénzügyi stabilitását</a:t>
            </a:r>
            <a:r>
              <a:rPr lang="hu-HU" sz="3200"/>
              <a:t>, fenntarthatóságát</a:t>
            </a:r>
            <a:r>
              <a:rPr lang="hu-HU" sz="3200" dirty="0"/>
              <a:t>.</a:t>
            </a:r>
          </a:p>
          <a:p>
            <a:r>
              <a:rPr lang="hu-HU" sz="3200" dirty="0"/>
              <a:t>Fejezeten belül célszerű alfejezetekben a következőket bemutatni: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sz="3200" dirty="0"/>
              <a:t>Premisszák (adók, infláció, jogi környezet).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sz="3200" dirty="0"/>
              <a:t>Költségek – szoros kapcsolat a működési terv fejezettel.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sz="3200" dirty="0"/>
              <a:t>Bevételek – szoros kapcsolat a marketing terv fejezettel.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20</a:t>
            </a:fld>
            <a:endParaRPr lang="hu-H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Pénzügyi terv:</a:t>
            </a:r>
          </a:p>
          <a:p>
            <a:r>
              <a:rPr lang="hu-HU" sz="3200" dirty="0"/>
              <a:t>Fejezeten belül célszerű alfejezetekben a következőket bemutatni: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hu-HU" sz="3200" dirty="0"/>
              <a:t>Likviditás részletes bemutatása – nagyon fontos, hogy be tudjuk bizonyítani, hogy képesek vagyunk kitermelni a hitel visszafizetését.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hu-HU" sz="3200" dirty="0"/>
              <a:t>Mérleg és eredmény tervezése – célszerű a számviteli törvény szerinti sémákat használni.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hu-HU" sz="3200" dirty="0"/>
              <a:t>Érdemes lehet fedezeti pont számítást végezni.</a:t>
            </a:r>
          </a:p>
          <a:p>
            <a:pPr marL="971550" lvl="1" indent="-514350">
              <a:buFont typeface="+mj-lt"/>
              <a:buAutoNum type="arabicPeriod" startAt="4"/>
            </a:pPr>
            <a:endParaRPr lang="hu-HU" sz="28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21</a:t>
            </a:fld>
            <a:endParaRPr lang="hu-H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Pénzügyi terv:</a:t>
            </a:r>
          </a:p>
          <a:p>
            <a:r>
              <a:rPr lang="hu-HU" sz="3200" dirty="0"/>
              <a:t>Fejezeten belül célszerű alfejezetekben a következőket bemutatni:</a:t>
            </a:r>
          </a:p>
          <a:p>
            <a:pPr marL="971550" lvl="1" indent="-514350">
              <a:buFont typeface="+mj-lt"/>
              <a:buAutoNum type="arabicPeriod" startAt="7"/>
            </a:pPr>
            <a:r>
              <a:rPr lang="hu-HU" sz="3200" dirty="0"/>
              <a:t>Pénzügyi elemző rész.</a:t>
            </a:r>
          </a:p>
          <a:p>
            <a:pPr marL="971550" lvl="1" indent="-514350">
              <a:buFont typeface="+mj-lt"/>
              <a:buAutoNum type="arabicPeriod" startAt="7"/>
            </a:pPr>
            <a:r>
              <a:rPr lang="hu-HU" sz="3200" dirty="0"/>
              <a:t>Osztalékfizetés tervezése, és elvinek bemutatása.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22</a:t>
            </a:fld>
            <a:endParaRPr lang="hu-H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Pénzügyi terv:</a:t>
            </a:r>
          </a:p>
          <a:p>
            <a:r>
              <a:rPr lang="hu-HU" sz="3200" dirty="0"/>
              <a:t>Általános megjegyzések:</a:t>
            </a:r>
          </a:p>
          <a:p>
            <a:pPr lvl="1"/>
            <a:r>
              <a:rPr lang="hu-HU" sz="3200" dirty="0"/>
              <a:t>A likviditásnak minimum 1, de inkább 2 évet kell átfognia.</a:t>
            </a:r>
          </a:p>
          <a:p>
            <a:pPr lvl="1"/>
            <a:r>
              <a:rPr lang="hu-HU" sz="3200" dirty="0"/>
              <a:t>A mérleg és eredmény levezetést olyan időtávon kell megtenni, ameddig a hitel futamideje terjed.</a:t>
            </a:r>
          </a:p>
          <a:p>
            <a:pPr lvl="1"/>
            <a:endParaRPr lang="hu-HU" sz="28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23</a:t>
            </a:fld>
            <a:endParaRPr lang="hu-H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Kockázatok becslése:</a:t>
            </a:r>
          </a:p>
          <a:p>
            <a:r>
              <a:rPr lang="hu-HU" sz="3200" dirty="0"/>
              <a:t>Jó üzleti ter</a:t>
            </a:r>
            <a:r>
              <a:rPr lang="hu-HU" dirty="0"/>
              <a:t>v nincs kockázatbecslés nélkül.</a:t>
            </a:r>
          </a:p>
          <a:p>
            <a:r>
              <a:rPr lang="hu-HU" sz="3200" dirty="0"/>
              <a:t>Ha nincs az nem kellően alapos tervezést feltételez, hiszen nincsen vállalkozás kockázat nélkül.</a:t>
            </a:r>
          </a:p>
          <a:p>
            <a:r>
              <a:rPr lang="hu-HU" dirty="0"/>
              <a:t>A nonprofit szektorban alapvető kockázat a likviditás hiánya.</a:t>
            </a:r>
          </a:p>
          <a:p>
            <a:r>
              <a:rPr lang="hu-HU" dirty="0"/>
              <a:t>Racionalitás nagyon fontos – meteorit becsapódásával ne számoljunk.</a:t>
            </a:r>
          </a:p>
          <a:p>
            <a:endParaRPr lang="hu-HU" sz="3200" dirty="0"/>
          </a:p>
          <a:p>
            <a:pPr lvl="1"/>
            <a:endParaRPr lang="hu-HU" sz="28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24</a:t>
            </a:fld>
            <a:endParaRPr lang="hu-H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Egyéb lehetséges fejezetek:</a:t>
            </a:r>
          </a:p>
          <a:p>
            <a:r>
              <a:rPr lang="hu-HU" sz="3200" dirty="0"/>
              <a:t>Hitelkérelem formanyomtatványa,</a:t>
            </a:r>
          </a:p>
          <a:p>
            <a:r>
              <a:rPr lang="hu-HU" dirty="0"/>
              <a:t>Törlesztési terv,</a:t>
            </a:r>
          </a:p>
          <a:p>
            <a:r>
              <a:rPr lang="hu-HU" sz="3200" dirty="0"/>
              <a:t>Finanszírozá</a:t>
            </a:r>
            <a:r>
              <a:rPr lang="hu-HU" dirty="0"/>
              <a:t>s többi szereplőinek bemutatása.</a:t>
            </a:r>
            <a:endParaRPr lang="hu-HU" sz="3200" dirty="0"/>
          </a:p>
          <a:p>
            <a:pPr lvl="1"/>
            <a:endParaRPr lang="hu-HU" sz="28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25</a:t>
            </a:fld>
            <a:endParaRPr lang="hu-H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Üzleti tervezés alapjai -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715040"/>
          </a:xfrm>
        </p:spPr>
        <p:txBody>
          <a:bodyPr>
            <a:noAutofit/>
          </a:bodyPr>
          <a:lstStyle/>
          <a:p>
            <a:r>
              <a:rPr lang="hu-HU" b="1" u="sng" dirty="0"/>
              <a:t>Csatolandó dokumentumok:</a:t>
            </a:r>
          </a:p>
          <a:p>
            <a:r>
              <a:rPr lang="hu-HU" sz="3200" dirty="0"/>
              <a:t>NAV igazolások,</a:t>
            </a:r>
          </a:p>
          <a:p>
            <a:r>
              <a:rPr lang="hu-HU" dirty="0"/>
              <a:t>Társasági szerződés,</a:t>
            </a:r>
          </a:p>
          <a:p>
            <a:r>
              <a:rPr lang="hu-HU" sz="3200" dirty="0"/>
              <a:t>Közgyűlési határozatok,</a:t>
            </a:r>
          </a:p>
          <a:p>
            <a:r>
              <a:rPr lang="hu-HU" dirty="0"/>
              <a:t>Fennálló hitelszerződések,</a:t>
            </a:r>
          </a:p>
          <a:p>
            <a:r>
              <a:rPr lang="hu-HU" sz="3200" dirty="0"/>
              <a:t>Támogatási szerződések,</a:t>
            </a:r>
          </a:p>
          <a:p>
            <a:r>
              <a:rPr lang="hu-HU" dirty="0"/>
              <a:t>Egyéb fontosnak ítélt </a:t>
            </a:r>
            <a:r>
              <a:rPr lang="hu-HU"/>
              <a:t>szerződések okmányok.</a:t>
            </a:r>
            <a:endParaRPr lang="hu-HU" sz="3200" dirty="0"/>
          </a:p>
          <a:p>
            <a:pPr lvl="1"/>
            <a:endParaRPr lang="hu-HU" sz="2800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FC7B-8251-45FF-B16F-5C83E47E597E}" type="slidenum">
              <a:rPr lang="hu-HU" smtClean="0"/>
              <a:pPr/>
              <a:t>26</a:t>
            </a:fld>
            <a:endParaRPr lang="hu-H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1056</Words>
  <Application>Microsoft Office PowerPoint</Application>
  <PresentationFormat>Diavetítés a képernyőre (4:3 oldalarány)</PresentationFormat>
  <Paragraphs>165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Office-téma</vt:lpstr>
      <vt:lpstr>Az üzleti tervezés alapjai</vt:lpstr>
      <vt:lpstr>Egy gondolat a startégiáról</vt:lpstr>
      <vt:lpstr>alapfogalmak</vt:lpstr>
      <vt:lpstr>Üzleti tervezés alapjai - alapfogalmak</vt:lpstr>
      <vt:lpstr>Üzleti tervezés alapjai - alapfogalmak</vt:lpstr>
      <vt:lpstr>Üzleti tervezés alapjai - alapfogalmak</vt:lpstr>
      <vt:lpstr>Üzleti tervezés alapjai - alapfogalmak</vt:lpstr>
      <vt:lpstr>Üzleti tervezés alapjai - alapfogalmak</vt:lpstr>
      <vt:lpstr>Üzleti terv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  <vt:lpstr>Üzleti tervezés alapjai - felépítése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üzleti tervezés alapjai</dc:title>
  <dc:creator>Trenka Zoltán</dc:creator>
  <cp:lastModifiedBy>Dell</cp:lastModifiedBy>
  <cp:revision>48</cp:revision>
  <dcterms:created xsi:type="dcterms:W3CDTF">2015-10-17T06:29:28Z</dcterms:created>
  <dcterms:modified xsi:type="dcterms:W3CDTF">2025-02-24T03:59:39Z</dcterms:modified>
</cp:coreProperties>
</file>