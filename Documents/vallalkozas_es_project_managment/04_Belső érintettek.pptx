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32" r:id="rId3"/>
    <p:sldId id="333" r:id="rId4"/>
    <p:sldId id="334" r:id="rId5"/>
    <p:sldId id="335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A69B61-E862-1C8A-4E07-D39F1BEA99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BF1E550-6617-222D-EBC9-3432650D03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221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4544C9-135A-F010-C7DB-45BDFCF7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8040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5F91B8-F58C-FCBC-D1FC-603662633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3840"/>
            <a:ext cx="9601200" cy="4754880"/>
          </a:xfrm>
        </p:spPr>
        <p:txBody>
          <a:bodyPr/>
          <a:lstStyle/>
          <a:p>
            <a:r>
              <a:rPr lang="hu-HU" sz="3200" b="1" dirty="0"/>
              <a:t>Kik a vállalkozások belső érintettjei?</a:t>
            </a:r>
          </a:p>
          <a:p>
            <a:r>
              <a:rPr lang="hu-HU" sz="3200" dirty="0"/>
              <a:t>A belső érintetteken belül jellemzően három csoportot szoktunk megkülönböztetni, ők a </a:t>
            </a:r>
          </a:p>
          <a:p>
            <a:r>
              <a:rPr lang="hu-HU" sz="3200" b="1" dirty="0"/>
              <a:t>tulajdonosok, </a:t>
            </a:r>
          </a:p>
          <a:p>
            <a:r>
              <a:rPr lang="hu-HU" sz="3200" b="1" dirty="0"/>
              <a:t>menedzserek és </a:t>
            </a:r>
          </a:p>
          <a:p>
            <a:r>
              <a:rPr lang="hu-HU" sz="3200" b="1" dirty="0"/>
              <a:t>munkavállalók</a:t>
            </a:r>
            <a:r>
              <a:rPr lang="hu-HU" sz="3200" dirty="0"/>
              <a:t>.</a:t>
            </a:r>
          </a:p>
          <a:p>
            <a:r>
              <a:rPr lang="hu-HU" sz="3200" dirty="0"/>
              <a:t>A három szereplő eltérő célrendszerrel működik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1785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E4B4D-116D-3511-1272-B78DC753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272722-0402-DF7D-796F-32760638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8040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E21E76-54EB-9B81-A094-3AC350BA5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3840"/>
            <a:ext cx="9601200" cy="4754880"/>
          </a:xfrm>
        </p:spPr>
        <p:txBody>
          <a:bodyPr/>
          <a:lstStyle/>
          <a:p>
            <a:r>
              <a:rPr lang="hu-HU" sz="2800" b="1" u="sng" dirty="0"/>
              <a:t>Tulajdonosok</a:t>
            </a:r>
            <a:r>
              <a:rPr lang="hu-HU" sz="2800" dirty="0"/>
              <a:t>:</a:t>
            </a:r>
          </a:p>
          <a:p>
            <a:pPr lvl="1"/>
            <a:r>
              <a:rPr lang="hu-HU" sz="2800" dirty="0"/>
              <a:t>Tőkét biztosítanak,</a:t>
            </a:r>
          </a:p>
          <a:p>
            <a:pPr lvl="1"/>
            <a:r>
              <a:rPr lang="hu-HU" sz="2800" dirty="0"/>
              <a:t>befektetett tőke értékének növelése (más motívum is elképzelhető), </a:t>
            </a:r>
          </a:p>
          <a:p>
            <a:pPr lvl="1"/>
            <a:r>
              <a:rPr lang="hu-HU" sz="2800" dirty="0"/>
              <a:t>tulajdonos magánszemély hozzáállása a tulajdoni arány nagyságától függ,</a:t>
            </a:r>
          </a:p>
          <a:p>
            <a:r>
              <a:rPr lang="hu-HU" sz="2800" b="1" u="sng" dirty="0"/>
              <a:t>intézményi tulajdonos</a:t>
            </a:r>
            <a:r>
              <a:rPr lang="hu-HU" sz="2800" dirty="0"/>
              <a:t>: állam, bank, vállalkozás, </a:t>
            </a:r>
          </a:p>
          <a:p>
            <a:pPr lvl="1"/>
            <a:r>
              <a:rPr lang="hu-HU" sz="2800" dirty="0"/>
              <a:t>tőkeérték növelés és befolyás szerzés</a:t>
            </a:r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89408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F7ED4-D221-22B9-84EF-0685C883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EF2B82-80D1-02F5-8211-5F167D9B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8040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DA381D-F137-FAC9-8755-34CD6A881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3840"/>
            <a:ext cx="9601200" cy="4754880"/>
          </a:xfrm>
        </p:spPr>
        <p:txBody>
          <a:bodyPr/>
          <a:lstStyle/>
          <a:p>
            <a:pPr lvl="0"/>
            <a:r>
              <a:rPr lang="hu-HU" sz="2800" b="1" u="sng" dirty="0"/>
              <a:t>Menedzserek, vezetők</a:t>
            </a:r>
            <a:r>
              <a:rPr lang="hu-HU" sz="2800" dirty="0"/>
              <a:t>: </a:t>
            </a:r>
          </a:p>
          <a:p>
            <a:pPr lvl="1"/>
            <a:r>
              <a:rPr lang="hu-HU" sz="2800" dirty="0"/>
              <a:t>leginkább kötődik a vállalati célokhoz, hiszen érdekelt azok teljesülésében, leginkább a növekedésben,</a:t>
            </a:r>
          </a:p>
          <a:p>
            <a:pPr lvl="1"/>
            <a:r>
              <a:rPr lang="hu-HU" sz="2800" dirty="0"/>
              <a:t>nyereségesség,</a:t>
            </a:r>
          </a:p>
          <a:p>
            <a:pPr lvl="1"/>
            <a:r>
              <a:rPr lang="hu-HU" sz="2800" dirty="0"/>
              <a:t>vállalkozás mindennapi működése életminőségi tényező számára</a:t>
            </a:r>
          </a:p>
          <a:p>
            <a:pPr lvl="1"/>
            <a:r>
              <a:rPr lang="hu-HU" sz="2800" dirty="0"/>
              <a:t>itt jelenhet meg a képviseleti probléma – információ többlet</a:t>
            </a:r>
            <a:endParaRPr lang="hu-HU" sz="2400" dirty="0"/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99812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ACD56-267B-853A-9B72-07AD3879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1B8775-13E8-E1A4-8C30-52234959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8040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A69C2C-816A-8FC1-1157-944CDEB37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3840"/>
            <a:ext cx="9601200" cy="4754880"/>
          </a:xfrm>
        </p:spPr>
        <p:txBody>
          <a:bodyPr/>
          <a:lstStyle/>
          <a:p>
            <a:pPr lvl="0"/>
            <a:r>
              <a:rPr lang="hu-HU" sz="2800" b="1" u="sng" dirty="0"/>
              <a:t>Munkavállalók:</a:t>
            </a:r>
            <a:r>
              <a:rPr lang="hu-HU" sz="2800" dirty="0"/>
              <a:t> </a:t>
            </a:r>
          </a:p>
          <a:p>
            <a:pPr lvl="1"/>
            <a:r>
              <a:rPr lang="hu-HU" sz="2800" dirty="0"/>
              <a:t>legkevésbé kötődnek a szervezet céljaihoz, bár a célok elérésében kifejezetten nagy szerepet játszanak</a:t>
            </a:r>
          </a:p>
          <a:p>
            <a:pPr lvl="1"/>
            <a:r>
              <a:rPr lang="hu-HU" sz="2800" dirty="0"/>
              <a:t>főként egyéni célok jelennek meg – </a:t>
            </a:r>
            <a:r>
              <a:rPr lang="hu-HU" sz="2800"/>
              <a:t>jövedelem,</a:t>
            </a:r>
          </a:p>
          <a:p>
            <a:pPr lvl="1"/>
            <a:r>
              <a:rPr lang="hu-HU" sz="2800"/>
              <a:t>motiváció </a:t>
            </a:r>
            <a:r>
              <a:rPr lang="hu-HU" sz="2800" dirty="0"/>
              <a:t>kérdése</a:t>
            </a:r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9278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8741D-9381-3DBA-09B7-39928E59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29D2C9-6B50-3298-3A5D-ADE399AB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5CF571-C199-6825-512C-7CB3CCBBE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diagnosztika:</a:t>
            </a:r>
          </a:p>
          <a:p>
            <a:r>
              <a:rPr lang="hu-HU" sz="3200" dirty="0"/>
              <a:t>Hasonlíthat egy orvosi diagnosztikai eljáráshoz</a:t>
            </a:r>
          </a:p>
          <a:p>
            <a:pPr lvl="1"/>
            <a:r>
              <a:rPr lang="hu-HU" sz="2800" dirty="0"/>
              <a:t>Vizsgálat: információt gyűjtünk általában, legkülönfélébb információk begyűjtése,</a:t>
            </a:r>
          </a:p>
          <a:p>
            <a:pPr lvl="1"/>
            <a:r>
              <a:rPr lang="hu-HU" sz="2800" dirty="0"/>
              <a:t>Diagnózis: betegségek megállapítása,</a:t>
            </a:r>
          </a:p>
          <a:p>
            <a:pPr lvl="1"/>
            <a:r>
              <a:rPr lang="hu-HU" sz="2800" dirty="0"/>
              <a:t>Előírások: instrukciókkal látjuk el, hogy mit kell tenni a gyógyulás érdekében.</a:t>
            </a:r>
          </a:p>
          <a:p>
            <a:r>
              <a:rPr lang="hu-HU" sz="3000" dirty="0"/>
              <a:t>Ha a diagnózis helyes a kezelés hatékony lehet és megszüntethetőek a tünetek, de ha nem …….</a:t>
            </a:r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00094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791A-B915-D5D4-A0D7-B653BB28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129F3F-0E22-C169-A4A3-839AAD3C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39F1473-51D8-C60E-CE76-8B806D7BA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 lnSpcReduction="10000"/>
          </a:bodyPr>
          <a:lstStyle/>
          <a:p>
            <a:r>
              <a:rPr lang="hu-HU" sz="2800" b="1" u="sng" dirty="0"/>
              <a:t>Vállalati diagnosztika:</a:t>
            </a:r>
          </a:p>
          <a:p>
            <a:r>
              <a:rPr lang="hu-HU" sz="3200" dirty="0"/>
              <a:t>Vállalatok esetében is hasonló a helyzet, számos információ megszerzése szükséges,</a:t>
            </a:r>
          </a:p>
          <a:p>
            <a:r>
              <a:rPr lang="hu-HU" sz="3200" dirty="0"/>
              <a:t>Ezeket csoportosítani, sémákba, modellekbe kell rendezni,</a:t>
            </a:r>
          </a:p>
          <a:p>
            <a:r>
              <a:rPr lang="hu-HU" sz="3200" dirty="0"/>
              <a:t>Ki kell szűrni a kis valószínűséggel meghúzódó okokat,</a:t>
            </a:r>
          </a:p>
          <a:p>
            <a:r>
              <a:rPr lang="hu-HU" sz="3200" dirty="0"/>
              <a:t>Így kialakulnak azok, amelyek beavatkozást igényelnek – a beavatkozásokat meg kell tenni,</a:t>
            </a:r>
          </a:p>
          <a:p>
            <a:r>
              <a:rPr lang="hu-HU" sz="3200" dirty="0"/>
              <a:t>A hibás diagnózis a vállalkozás nehézségeinek fokozásához vezet,</a:t>
            </a:r>
            <a:endParaRPr lang="hu-HU" sz="30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69354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B0BE0-2187-D09B-A9A2-3DB7AE66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81114C-C1AA-57CB-4FE7-4B7A9D56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3B646A-0E6E-D4A6-AC35-5E1D9DBED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diagnosztika:</a:t>
            </a:r>
          </a:p>
          <a:p>
            <a:r>
              <a:rPr lang="hu-HU" sz="3200" dirty="0"/>
              <a:t>Ahhoz, hogy a stratégia módosításáról dönteni tudjunk meg kell válaszolnunk:</a:t>
            </a:r>
          </a:p>
          <a:p>
            <a:pPr lvl="1"/>
            <a:r>
              <a:rPr lang="hu-HU" sz="2800" dirty="0"/>
              <a:t>Hogyan alakul a vállalkozás teljesítménye?</a:t>
            </a:r>
          </a:p>
          <a:p>
            <a:pPr lvl="1"/>
            <a:r>
              <a:rPr lang="hu-HU" sz="2800" dirty="0"/>
              <a:t>Milyen volt a múltbéli teljesítmény?</a:t>
            </a:r>
          </a:p>
          <a:p>
            <a:pPr lvl="1"/>
            <a:r>
              <a:rPr lang="hu-HU" sz="2800" dirty="0"/>
              <a:t>Merre tart a teljesítménytrendünk?</a:t>
            </a:r>
          </a:p>
          <a:p>
            <a:pPr lvl="1"/>
            <a:endParaRPr lang="hu-HU" sz="2800" dirty="0"/>
          </a:p>
          <a:p>
            <a:r>
              <a:rPr lang="hu-HU" sz="3000" dirty="0"/>
              <a:t>Milyen módszerek állnak rendelkezésre?</a:t>
            </a:r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311447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97A5F-8D65-F375-EC03-C85489AE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1827AB-75AA-5D58-26D7-7508C627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DC66DE-CC3F-1DB2-A371-1CE55382B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funkciók diagnózisa</a:t>
            </a:r>
          </a:p>
          <a:p>
            <a:r>
              <a:rPr lang="hu-HU" sz="3200" dirty="0"/>
              <a:t>Itt az jellemzően egy az iparágon belüli kimagasló vállalkozáshoz mérjük magunkat,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3200" dirty="0"/>
              <a:t>MARKETING: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Megfelelő-e a piaci szegmentáció?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Megfelelő-e a fogyasztói igények meghatározása?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Érvényesül-e a marketingkoncepció a misszió megfogalmazása során?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Jó-e a disztribúciós csatornánk?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Hatékony-e az értékesítést támogató tevékenység?</a:t>
            </a:r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711171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1DC5-69B0-13CB-A938-DB212D66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7C487E-94DE-F139-4CD5-1ED08CBB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1CD75E-3BA5-A409-F2E7-5C4162443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funkciók diagnózisa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3200" dirty="0"/>
              <a:t>TERMELÉS: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Milyen a termelőkapacitások elhelyezkedése a nyersanyagokhoz, a fogyasztóhoz képest?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Milyen állapotúak a berendezéseink?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Milyen fejlet a gyártási/szolgáltatási technológiánk?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Tartjuk-e a termelés során a tervezett minőségi szintet?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Minimalizáljuk-e a termelési kieséseket?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Minimalizáljuk-e a karbantartási kiesést?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Betartjuk-e a termelési költségeket?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Betartjuk-e a határidőket?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121375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9F9EB-4133-FE76-37B4-79D7D97E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AEE9CF-0743-9961-B936-0E4C3350B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734592-2136-AF6E-606E-B6321218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funkciók diagnózisa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3200" dirty="0"/>
              <a:t>PÉNZÜGY: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Beruházási költségeink hol állnak az iparági szinthez?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Megfelelő a tőkeellátottságunk?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Milyen a tulajdonosokhoz/részvényesekhez kapcsolódó viszony?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Milyen a kapcsolat a pénzintézetekkel?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Rövidtávú hitelező kapcsolatok megfelelőek-e?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Tőkeösszetétel kellően rugalmas?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Megfelelő-e a pénzügyi irányítás?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Eszközök és források összhangja megfelelő?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581570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2B09C-5202-1E27-8143-79CF69E05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562D7A-E91F-BBA0-8C96-D4904D94A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98B3E9-59C7-507E-4C16-DCDE2F631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funkciók diagnózisa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3200" dirty="0"/>
              <a:t>EMBERI  ERŐFORRÁSOK: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Kvalifikált munkaerő toborzás és utánpótlás megfelelő-e?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Fenyeget-e a jó munkaerő elvándorlása, elcsábítása?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Új belépők megkapják-e a megfelelő támogatást?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Fluktuáció, hiányzás az iparág alatt van?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Elbocsájtások megelőzhetőek-e?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Fenyeget-e sztrájk?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Teljesülnek-e a munkajogi előírások?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85526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C651-A968-0B0C-F33C-6F93B9A56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0D9197-8F02-599D-8140-D5782EFEE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AEE395-764B-5929-4411-7627306E1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funkciók diagnózisa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3200" dirty="0"/>
              <a:t>KUTATÁS ÉS FEJLESZTÉS: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Megfelelőek-e a technológiáink?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Hol járnak a termékeink a versenytársakhoz képest?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Gazdaságosak a fejlesztések?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Technológiai fejlesztéseink </a:t>
            </a:r>
            <a:r>
              <a:rPr lang="hu-HU" sz="2600" dirty="0" err="1"/>
              <a:t>stratégiailag</a:t>
            </a:r>
            <a:r>
              <a:rPr lang="hu-HU" sz="2600" dirty="0"/>
              <a:t> is megállják a helyüket?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600" dirty="0"/>
              <a:t>Látjuk-e előre a technológiai változásokat?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677033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FB38-71C8-20E4-E0A8-A07F1FEC2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6B13AD-C758-4A50-AABB-BC0FCE60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68A5903-9F18-6328-F48F-6EB587CBD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SWOT</a:t>
            </a:r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r>
              <a:rPr lang="hu-HU" sz="4000" dirty="0"/>
              <a:t>Szöveges összevetések, összegzések.</a:t>
            </a:r>
          </a:p>
          <a:p>
            <a:pPr marL="457200" lvl="1" indent="0">
              <a:buNone/>
            </a:pPr>
            <a:endParaRPr lang="hu-HU" sz="2600" dirty="0"/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endParaRPr lang="hu-HU" sz="24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3E5C57D-AC3B-A764-0AEE-9F0D53F4E2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33" t="65185" r="19917" b="14267"/>
          <a:stretch/>
        </p:blipFill>
        <p:spPr>
          <a:xfrm>
            <a:off x="1517301" y="1991360"/>
            <a:ext cx="9912699" cy="256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22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0AA6-6353-E5FF-54C7-58F5C270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E0AB90-93EF-92B0-16AF-EA2342103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7D31DD-723B-032E-224B-8458B980D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SWOT</a:t>
            </a:r>
          </a:p>
          <a:p>
            <a:pPr lvl="1"/>
            <a:r>
              <a:rPr lang="hu-HU" sz="2600" dirty="0"/>
              <a:t>Erősségek:</a:t>
            </a:r>
          </a:p>
          <a:p>
            <a:pPr lvl="2"/>
            <a:r>
              <a:rPr lang="hu-HU" sz="2400" dirty="0"/>
              <a:t>A szervezet potenciális belső erőforrásait vizsgálja, </a:t>
            </a:r>
          </a:p>
          <a:p>
            <a:pPr lvl="2"/>
            <a:r>
              <a:rPr lang="hu-HU" sz="2400" dirty="0"/>
              <a:t>melyek azok a pozitívumok, amik eddig is a siker </a:t>
            </a:r>
            <a:r>
              <a:rPr lang="hu-HU" sz="2400" dirty="0" err="1"/>
              <a:t>zálogai</a:t>
            </a:r>
            <a:r>
              <a:rPr lang="hu-HU" sz="2400" dirty="0"/>
              <a:t> voltak, és a továbbiakban is lehet rájuk építeni. </a:t>
            </a:r>
          </a:p>
          <a:p>
            <a:pPr lvl="2"/>
            <a:r>
              <a:rPr lang="hu-HU" sz="2400" dirty="0"/>
              <a:t>Ha például egy kistérséget vizsgálunk, erősség lehet a jó közlekedés-földrajzi adottság, a kulturális örökségek, színvonalas szálláshelyek, megfelelően képzett humánerőforrás, stb.</a:t>
            </a:r>
          </a:p>
          <a:p>
            <a:pPr lvl="2"/>
            <a:r>
              <a:rPr lang="hu-HU" sz="2400" dirty="0"/>
              <a:t>Melyek az előnyeink? Mit csinálunk jól? Milyen kedvező adottságaink vannak? </a:t>
            </a:r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endParaRPr lang="hu-HU" sz="24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7BC7839-D735-74BE-0C84-551EB5F48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33" t="65185" r="19917" b="14267"/>
          <a:stretch/>
        </p:blipFill>
        <p:spPr>
          <a:xfrm>
            <a:off x="7279527" y="1192416"/>
            <a:ext cx="4287633" cy="110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67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92904-5478-20A9-E41E-1524F654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79F468-4707-A42C-B8FC-E753A5F94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6B09E9E-859E-2934-0893-BFD9AB48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SWOT</a:t>
            </a:r>
          </a:p>
          <a:p>
            <a:pPr lvl="1"/>
            <a:r>
              <a:rPr lang="hu-HU" sz="2800" dirty="0"/>
              <a:t>Gyengeségek:</a:t>
            </a:r>
          </a:p>
          <a:p>
            <a:pPr lvl="2"/>
            <a:r>
              <a:rPr lang="hu-HU" sz="2800" dirty="0"/>
              <a:t>a fejlesztendő területek. </a:t>
            </a:r>
          </a:p>
          <a:p>
            <a:pPr lvl="2"/>
            <a:r>
              <a:rPr lang="hu-HU" sz="2800" dirty="0"/>
              <a:t>Gyengeség lehet a kistérségekkel kapcsolatban például a magas munkanélküliségi ráta, az infrastrukturális ellátottság hiányosságai, a szegényes turisztikai programkínálat, rendezetlen tulajdonviszonyok, stb. </a:t>
            </a:r>
          </a:p>
          <a:p>
            <a:pPr lvl="2"/>
            <a:r>
              <a:rPr lang="hu-HU" sz="2800" dirty="0"/>
              <a:t>Mit csinálunk rosszul? Mit csinálnak mások jobban? Melyek a hátrányaink?</a:t>
            </a:r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endParaRPr lang="hu-HU" sz="24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4032D38-79E4-64BD-0E95-0483EAA0B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33" t="65185" r="19917" b="14267"/>
          <a:stretch/>
        </p:blipFill>
        <p:spPr>
          <a:xfrm>
            <a:off x="7279527" y="1192416"/>
            <a:ext cx="4287633" cy="110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23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9495D-31A4-4500-3FCB-D1D1929E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BE3AD1-A444-246D-4761-BAF8DAB5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ED2751-EE33-33ED-E156-B09D33506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SWOT</a:t>
            </a:r>
          </a:p>
          <a:p>
            <a:pPr lvl="1"/>
            <a:r>
              <a:rPr lang="hu-HU" sz="2800" dirty="0"/>
              <a:t>Lehetőségek:</a:t>
            </a:r>
          </a:p>
          <a:p>
            <a:pPr lvl="2"/>
            <a:r>
              <a:rPr lang="hu-HU" sz="2600" dirty="0"/>
              <a:t>Melyek számunkra a fontos pozitív külső változások, folyamatok? </a:t>
            </a:r>
          </a:p>
          <a:p>
            <a:pPr lvl="2"/>
            <a:r>
              <a:rPr lang="hu-HU" sz="2600" dirty="0"/>
              <a:t>Hol rendelkezünk jó eséllyel? </a:t>
            </a:r>
          </a:p>
          <a:p>
            <a:pPr lvl="2"/>
            <a:r>
              <a:rPr lang="hu-HU" sz="2600" dirty="0"/>
              <a:t>Melyek a kitörési pontok?</a:t>
            </a:r>
            <a:endParaRPr lang="hu-HU" sz="24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endParaRPr lang="hu-HU" sz="24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2FB540C-E55D-DDF3-CBB8-4096A180B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33" t="65185" r="19917" b="14267"/>
          <a:stretch/>
        </p:blipFill>
        <p:spPr>
          <a:xfrm>
            <a:off x="7279527" y="1192416"/>
            <a:ext cx="4287633" cy="110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77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4F432-E010-2FEF-D4F1-9FAD1582E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3A684B-9A30-5959-AFFD-2A469A35E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64E651-9EC6-90DA-66BD-92872C0A9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SWOT</a:t>
            </a:r>
          </a:p>
          <a:p>
            <a:pPr lvl="1"/>
            <a:r>
              <a:rPr lang="hu-HU" sz="2800" dirty="0"/>
              <a:t>Veszélyek:</a:t>
            </a:r>
          </a:p>
          <a:p>
            <a:pPr lvl="2"/>
            <a:r>
              <a:rPr lang="hu-HU" sz="2600" dirty="0"/>
              <a:t>Milyen követelmények fogalmazódnak meg, amelyeket nehéz teljesíteni? </a:t>
            </a:r>
          </a:p>
          <a:p>
            <a:pPr lvl="2"/>
            <a:r>
              <a:rPr lang="hu-HU" sz="2600" dirty="0"/>
              <a:t>Melyek azok a környezeti változások, amelyekkel nem tudjuk felvenni a versenyt, amelyek hátrányosan érintenek bennünket?</a:t>
            </a:r>
          </a:p>
          <a:p>
            <a:pPr lvl="2"/>
            <a:r>
              <a:rPr lang="hu-HU" sz="2600" dirty="0"/>
              <a:t>A kockázat miben léte és mértéke. </a:t>
            </a:r>
            <a:endParaRPr lang="hu-HU" sz="24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marL="457200" lvl="1" indent="0">
              <a:buNone/>
            </a:pPr>
            <a:endParaRPr lang="hu-HU" sz="2600" dirty="0"/>
          </a:p>
          <a:p>
            <a:pPr lvl="1">
              <a:buFont typeface="Wingdings" panose="05000000000000000000" pitchFamily="2" charset="2"/>
              <a:buChar char="Ø"/>
            </a:pPr>
            <a:endParaRPr lang="hu-HU" sz="2600" dirty="0"/>
          </a:p>
          <a:p>
            <a:endParaRPr lang="hu-HU" sz="24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730CE40-2584-2C1F-EFDA-426C48F45C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33" t="65185" r="19917" b="14267"/>
          <a:stretch/>
        </p:blipFill>
        <p:spPr>
          <a:xfrm>
            <a:off x="7279527" y="1192416"/>
            <a:ext cx="4287633" cy="110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92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C83DB-575D-9E22-FECF-2FFE67C20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6B98CE-DE7C-26B0-5789-43B878E45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9F5CFF-406E-4E17-A6AF-ACA481F34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MCKINSEY-FÉLE 7S-MODELL</a:t>
            </a:r>
          </a:p>
          <a:p>
            <a:pPr lvl="1"/>
            <a:r>
              <a:rPr lang="hu-HU" sz="2800" dirty="0"/>
              <a:t>A sikeres stratégia megvalósításának feltételeit a Tom </a:t>
            </a:r>
            <a:r>
              <a:rPr lang="hu-HU" sz="2800" dirty="0" err="1"/>
              <a:t>Peters</a:t>
            </a:r>
            <a:r>
              <a:rPr lang="hu-HU" sz="2800" dirty="0"/>
              <a:t> és Robert </a:t>
            </a:r>
            <a:r>
              <a:rPr lang="hu-HU" sz="2800" dirty="0" err="1"/>
              <a:t>Waterman</a:t>
            </a:r>
            <a:r>
              <a:rPr lang="hu-HU" sz="2800" dirty="0"/>
              <a:t> nevéhez fűződő, és a </a:t>
            </a:r>
            <a:r>
              <a:rPr lang="hu-HU" sz="2800" dirty="0" err="1"/>
              <a:t>McKinsley</a:t>
            </a:r>
            <a:r>
              <a:rPr lang="hu-HU" sz="2800" dirty="0"/>
              <a:t> tanácsadó cég által kidolgozott 7S-modellel.</a:t>
            </a:r>
          </a:p>
          <a:p>
            <a:pPr lvl="1"/>
            <a:r>
              <a:rPr lang="en-US" sz="2800" dirty="0"/>
              <a:t>7S </a:t>
            </a:r>
            <a:r>
              <a:rPr lang="en-US" sz="2800" dirty="0" err="1"/>
              <a:t>elnevezés</a:t>
            </a:r>
            <a:r>
              <a:rPr lang="en-US" sz="2800" dirty="0"/>
              <a:t> </a:t>
            </a:r>
            <a:r>
              <a:rPr lang="en-US" sz="2800" dirty="0" err="1"/>
              <a:t>angolul</a:t>
            </a:r>
            <a:r>
              <a:rPr lang="en-US" sz="2800" dirty="0"/>
              <a:t>: Strategy, Structure, Systems, Style, Staff, Skill, Shared values</a:t>
            </a:r>
            <a:endParaRPr lang="hu-HU" sz="2800" dirty="0"/>
          </a:p>
          <a:p>
            <a:pPr lvl="1"/>
            <a:r>
              <a:rPr lang="hu-HU" sz="2800" dirty="0"/>
              <a:t>A modell segítségével a szervezetek megvizsgálhatják, hogy a hét elem egyensúlyban van-e, és ha nem, akkor milyen változtatásokat kell végrehajtani, alkalmazásával a szervezetek képesek lehetnek megérteni, hogyan befolyásolják az egyes funkciók egymást és ezek hogyan hatnak az eredményekre.</a:t>
            </a:r>
          </a:p>
        </p:txBody>
      </p:sp>
    </p:spTree>
    <p:extLst>
      <p:ext uri="{BB962C8B-B14F-4D97-AF65-F5344CB8AC3E}">
        <p14:creationId xmlns:p14="http://schemas.microsoft.com/office/powerpoint/2010/main" val="135400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D1A1-1E51-DB89-21BF-9ED0A8FC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0C69EF-1636-1C06-058C-C0472A44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07E8A7-6460-FC89-E946-A5A1BD793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MCKINSEY-FÉLE 7S-MODELL</a:t>
            </a:r>
          </a:p>
          <a:p>
            <a:pPr lvl="1"/>
            <a:r>
              <a:rPr lang="hu-HU" sz="2800" b="1" dirty="0"/>
              <a:t>Stratégia:</a:t>
            </a:r>
            <a:r>
              <a:rPr lang="hu-HU" sz="2800" dirty="0"/>
              <a:t> összefüggő akciók együttese, amely versenyelőny megszerzésére irányul, javítja a pozíciót, gondoskodik az erőforrások elosztásáról.</a:t>
            </a:r>
          </a:p>
          <a:p>
            <a:pPr lvl="1"/>
            <a:r>
              <a:rPr lang="hu-HU" sz="2800" b="1" dirty="0"/>
              <a:t>Szervezet</a:t>
            </a:r>
            <a:r>
              <a:rPr lang="hu-HU" sz="2800" dirty="0"/>
              <a:t>: a szervezeti munkamegosztás szervezeti sémája, hatásköri és felelősségi listája.</a:t>
            </a:r>
          </a:p>
          <a:p>
            <a:pPr lvl="1"/>
            <a:r>
              <a:rPr lang="hu-HU" sz="2800" b="1" dirty="0"/>
              <a:t>Rendszerek:</a:t>
            </a:r>
            <a:r>
              <a:rPr lang="hu-HU" sz="2800" dirty="0"/>
              <a:t> a szervezeten belüli folyamatokat összefogó rendszerek (gyártási rendszer, beruházási rendszer, érdekeltségi rendszer, tervezési rendszer, információs rendszer stb.)</a:t>
            </a:r>
          </a:p>
        </p:txBody>
      </p:sp>
    </p:spTree>
    <p:extLst>
      <p:ext uri="{BB962C8B-B14F-4D97-AF65-F5344CB8AC3E}">
        <p14:creationId xmlns:p14="http://schemas.microsoft.com/office/powerpoint/2010/main" val="154069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56D10-5D2D-65A8-014B-EF5516A8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C61A5A-F4C5-CDD0-532A-911CCF16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DC0D8F0-5E54-A97F-12A6-C2A8DAD3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MCKINSEY-FÉLE 7S-MODELL</a:t>
            </a:r>
          </a:p>
          <a:p>
            <a:pPr lvl="1"/>
            <a:r>
              <a:rPr lang="hu-HU" sz="2800" b="1" dirty="0"/>
              <a:t>Stílus</a:t>
            </a:r>
            <a:r>
              <a:rPr lang="hu-HU" sz="2800" dirty="0"/>
              <a:t>: a vezetés viselkedési módja, értékrendje.</a:t>
            </a:r>
          </a:p>
          <a:p>
            <a:pPr lvl="1"/>
            <a:r>
              <a:rPr lang="hu-HU" sz="2800" b="1" dirty="0"/>
              <a:t>Személyzet:</a:t>
            </a:r>
            <a:r>
              <a:rPr lang="hu-HU" sz="2800" dirty="0"/>
              <a:t> a szervezet alkalmazásában álló munkaerő, annak összetétele, minőségi jellemzői.</a:t>
            </a:r>
          </a:p>
          <a:p>
            <a:pPr lvl="1"/>
            <a:r>
              <a:rPr lang="hu-HU" sz="2800" b="1" dirty="0"/>
              <a:t>Szakértelem</a:t>
            </a:r>
            <a:r>
              <a:rPr lang="hu-HU" sz="2800" dirty="0"/>
              <a:t>: a szervezet egészének, az ott foglalkoztatottak összességének képessége feladatok megoldására (csapatmunka, szemben az egyéni képességekkel).</a:t>
            </a:r>
          </a:p>
          <a:p>
            <a:pPr lvl="1"/>
            <a:r>
              <a:rPr lang="hu-HU" sz="2800" b="1" dirty="0"/>
              <a:t>Közös értékek</a:t>
            </a:r>
            <a:r>
              <a:rPr lang="hu-HU" sz="2800" dirty="0"/>
              <a:t>: a célkitűzések mögött meghúzódó, a szervezetben dolgozók többsége által elfogadott, mélyebben gyökerező értékek</a:t>
            </a:r>
          </a:p>
        </p:txBody>
      </p:sp>
    </p:spTree>
    <p:extLst>
      <p:ext uri="{BB962C8B-B14F-4D97-AF65-F5344CB8AC3E}">
        <p14:creationId xmlns:p14="http://schemas.microsoft.com/office/powerpoint/2010/main" val="2035162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3FE5-43C5-58CA-6676-5E777E40D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A847FE-58B0-FEA5-B686-FA5FF12BD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2FF540B-3A37-C4DE-4B06-FD082853C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MCKINSEY-FÉLE 7S-MODELL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A478140-C7CF-4A1F-2D93-39E714BBB0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50" t="32000" r="23083" b="8149"/>
          <a:stretch/>
        </p:blipFill>
        <p:spPr>
          <a:xfrm>
            <a:off x="2520679" y="1909177"/>
            <a:ext cx="7150642" cy="470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01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75FF3-6B2F-76F8-B754-F51F9CF8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DFF28C-7AFB-8C89-DD81-D32D56E5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5073FC-84C3-7AEC-E73B-1AB19831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MCKINSEY-FÉLE 7S-MODELL</a:t>
            </a:r>
          </a:p>
          <a:p>
            <a:pPr lvl="1"/>
            <a:r>
              <a:rPr lang="hu-HU" sz="2800" dirty="0"/>
              <a:t>A változók közül egyesek jól </a:t>
            </a:r>
            <a:r>
              <a:rPr lang="hu-HU" sz="2800" dirty="0" err="1"/>
              <a:t>körülhatárolhatók</a:t>
            </a:r>
            <a:r>
              <a:rPr lang="hu-HU" sz="2800" dirty="0"/>
              <a:t>, meghatározhatók, nyomon követhetők. </a:t>
            </a:r>
          </a:p>
          <a:p>
            <a:pPr lvl="1"/>
            <a:r>
              <a:rPr lang="hu-HU" sz="2800" dirty="0"/>
              <a:t>Ezek az úgynevezett keménytényezők: a szervezet, a stratégia, valamint a vállalati rendszerek.</a:t>
            </a:r>
          </a:p>
          <a:p>
            <a:pPr lvl="1"/>
            <a:r>
              <a:rPr lang="hu-HU" sz="2800" dirty="0"/>
              <a:t>A többi négy dimenzió alkotja a vezetés nehezebben megfogható komponenseit, amelyek az emberi tényezőkhöz jobban kötődőek.</a:t>
            </a:r>
          </a:p>
          <a:p>
            <a:pPr lvl="1"/>
            <a:r>
              <a:rPr lang="hu-HU" sz="2800" dirty="0"/>
              <a:t>Azt a közeget jelentik, amelyben a kemény tényezők mélyen beágyazódva működnek. Ezek az úgynevezett lágy tényezők: a stílus, a munkaerő, a szakértelem és a közös értékek, melyek a szervezeti kultúra meghatározásában játszanak fő szerepet</a:t>
            </a:r>
          </a:p>
        </p:txBody>
      </p:sp>
    </p:spTree>
    <p:extLst>
      <p:ext uri="{BB962C8B-B14F-4D97-AF65-F5344CB8AC3E}">
        <p14:creationId xmlns:p14="http://schemas.microsoft.com/office/powerpoint/2010/main" val="1159282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63E39-990D-A7C1-D0D2-06AC54C6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B6D596-88AD-AD97-ABF9-D1B2729C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Belső érintettek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715B9C-A5A1-F726-8051-3ED6F7FB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Vállalati diagnosztika – MCKINSEY-FÉLE 7S-MODELL</a:t>
            </a:r>
          </a:p>
          <a:p>
            <a:pPr lvl="1"/>
            <a:r>
              <a:rPr lang="hu-HU" sz="2800" dirty="0"/>
              <a:t>A korábban irracionálisnak, intuitívnek, informálisnak minősített szervezeti komponensekről is kiderült, hogy kezelhetők.</a:t>
            </a:r>
          </a:p>
          <a:p>
            <a:pPr lvl="1"/>
            <a:r>
              <a:rPr lang="hu-HU" sz="2800" dirty="0"/>
              <a:t>A lágy tényezőkben is hatalmas feladatai vannak a vezetőknek, hogy a vállalat sikeres legyen.</a:t>
            </a:r>
          </a:p>
          <a:p>
            <a:pPr lvl="1"/>
            <a:r>
              <a:rPr lang="hu-HU" sz="2800" dirty="0"/>
              <a:t>Az akciók sikeres végrehajtását, az eredményt a folyamatos megújulás és tanulás, valamint az új ötletek biztosítják.</a:t>
            </a:r>
          </a:p>
          <a:p>
            <a:pPr lvl="1"/>
            <a:r>
              <a:rPr lang="hu-HU" sz="2800"/>
              <a:t>Ehhez </a:t>
            </a:r>
            <a:r>
              <a:rPr lang="hu-HU" sz="2800" dirty="0"/>
              <a:t>azonban jó szakemberekre van szükség, és előtérbe kell helyezni a demokratikus vezetést, a mentorálást és a csapatmunkát.</a:t>
            </a:r>
          </a:p>
          <a:p>
            <a:pPr lvl="1"/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23203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BA54B1-DFE3-CE9F-332F-F1F935AE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Köszönöm a figyelmet!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8F3B9E2-9840-16BE-2A5A-FF3BAEEC6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7920306"/>
      </p:ext>
    </p:extLst>
  </p:cSld>
  <p:clrMapOvr>
    <a:masterClrMapping/>
  </p:clrMapOvr>
</p:sld>
</file>

<file path=ppt/theme/theme1.xml><?xml version="1.0" encoding="utf-8"?>
<a:theme xmlns:a="http://schemas.openxmlformats.org/drawingml/2006/main" name="Körülvágás">
  <a:themeElements>
    <a:clrScheme name="Crop">
      <a:dk1>
        <a:sysClr val="windowText" lastClr="000000"/>
      </a:dk1>
      <a:lt1>
        <a:sysClr val="window" lastClr="FFFFFF"/>
      </a:lt1>
      <a:dk2>
        <a:srgbClr val="4A2318"/>
      </a:dk2>
      <a:lt2>
        <a:srgbClr val="EDECEB"/>
      </a:lt2>
      <a:accent1>
        <a:srgbClr val="F3C82E"/>
      </a:accent1>
      <a:accent2>
        <a:srgbClr val="A26176"/>
      </a:accent2>
      <a:accent3>
        <a:srgbClr val="74A94E"/>
      </a:accent3>
      <a:accent4>
        <a:srgbClr val="188E8D"/>
      </a:accent4>
      <a:accent5>
        <a:srgbClr val="EE913A"/>
      </a:accent5>
      <a:accent6>
        <a:srgbClr val="DF5D4A"/>
      </a:accent6>
      <a:hlink>
        <a:srgbClr val="188E8D"/>
      </a:hlink>
      <a:folHlink>
        <a:srgbClr val="A26176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Körülvágás</Template>
  <TotalTime>27</TotalTime>
  <Words>1168</Words>
  <Application>Microsoft Office PowerPoint</Application>
  <PresentationFormat>Szélesvásznú</PresentationFormat>
  <Paragraphs>187</Paragraphs>
  <Slides>25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25</vt:i4>
      </vt:variant>
    </vt:vector>
  </HeadingPairs>
  <TitlesOfParts>
    <vt:vector size="28" baseType="lpstr">
      <vt:lpstr>Franklin Gothic Book</vt:lpstr>
      <vt:lpstr>Wingdings</vt:lpstr>
      <vt:lpstr>Körülvágás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Belső érintettek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7</cp:revision>
  <dcterms:created xsi:type="dcterms:W3CDTF">2025-03-04T09:13:54Z</dcterms:created>
  <dcterms:modified xsi:type="dcterms:W3CDTF">2025-03-09T18:46:33Z</dcterms:modified>
</cp:coreProperties>
</file>